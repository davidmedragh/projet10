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</a:rPr>
              <a:t>ANALYSE D'IRM CÉRÉBRALES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APPROCHES SEMI-SUPERVISÉES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291840"/>
            <a:ext cx="2743200" cy="3810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BBBBB"/>
                </a:solidFill>
              </a:rPr>
              <a:t>Projet BrainScanAI — CurelyticsIA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500" b="0">
                <a:solidFill>
                  <a:srgbClr val="888888"/>
                </a:solidFill>
              </a:rPr>
              <a:t>Exploration, extraction de features, clustering et semi-supervisé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8463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</a:rPr>
              <a:t>David MEDRAGH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Data Scientist — CurelyticsIA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</a:rPr>
              <a:t>Mai 2026</a:t>
            </a:r>
          </a:p>
        </p:txBody>
      </p:sp>
      <p:pic>
        <p:nvPicPr>
          <p:cNvPr id="9" name="Picture 8" descr="logo_Curelytics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669280"/>
            <a:ext cx="710432" cy="548640"/>
          </a:xfrm>
          <a:prstGeom prst="rect">
            <a:avLst/>
          </a:prstGeom>
        </p:spPr>
      </p:pic>
      <p:pic>
        <p:nvPicPr>
          <p:cNvPr id="10" name="Picture 9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566928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Sommaire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1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Exploration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Contexte &amp; Dataset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Vérification technique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Échantillon visuel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2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Pipeline preprocessing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Modèle ResNet50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Résultats extraction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3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Clustering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Réduction PCA / t-SNE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K-Means &amp; DBSCAN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Score ARI &amp; pseudo-labels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4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Semi-supervisé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▸  À venir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7" name="Picture 16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8" name="Picture 17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ÉTAPE 1 — 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</a:rPr>
              <a:t>Contexte, dataset et vérification technique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Inventaire complet, contrôle qualité et écarts documentés</a:t>
            </a:r>
          </a:p>
        </p:txBody>
      </p:sp>
      <p:pic>
        <p:nvPicPr>
          <p:cNvPr id="6" name="Picture 5" descr="stack_technique_slide_etap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97280"/>
            <a:ext cx="901065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Contexte &amp;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CurelyticsIA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Startup e-santé — analyse d'images médicales par IA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Projet R&amp;D BrainScanAI : détection de tumeurs cérébrales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Dataset d'IRM collecté auprès de radiologues experts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1 506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Images totales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8116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Labellisées (6,6 %)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0175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Structure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avec_labels/cancer/    →  50 IRM avec tumeurs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avec_labels/normal/    →  50 IRM cerveaux sains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sans_label/                 → 1 406 IRM non étiquetées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1148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062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B3A5C"/>
                </a:solidFill>
              </a:rPr>
              <a:t>512×512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800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Résolution (px)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17520" y="41148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54680" y="42062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JPEG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800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Format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4864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5778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RGB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6172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Mode couleur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54864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54680" y="55778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E67E22"/>
                </a:solidFill>
              </a:rPr>
              <a:t>~6,6 %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6172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Labels disponibles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31" name="Picture 30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32" name="Picture 31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Vérification technique &amp; Écarts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1B3A5C"/>
                </a:solidFill>
              </a:rPr>
              <a:t>Résultats du scan complet (1 506 images)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Toutes les images lisibles — aucune corrompue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Résolution homogène : 512×512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Format uniformément JPEG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Mode couleur uniformément RGB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Aucun doublon entre les 3 dossiers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0" y="1645920"/>
          <a:ext cx="54864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Critère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Énoncé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Réel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Commentaire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Format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PNG (courriel)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JPEG (.jpg)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Fichier descriptif confirme JPEG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Non étiquetées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1 400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1 406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+6 images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1 506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Écart cohérent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Métadonnées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Non mentionnées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Absentes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Dossiers = labels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</a:rPr>
              <a:t>→  Écarts mineurs et documentés. Dataset propre, exploitable en l'état.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4" name="Picture 1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5" name="Picture 1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Échantillon visuel — 5 images par catégorie</a:t>
            </a:r>
          </a:p>
        </p:txBody>
      </p:sp>
      <p:pic>
        <p:nvPicPr>
          <p:cNvPr id="7" name="Picture 6" descr="echantillon_visuel_etap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582532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2" name="Picture 11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3" name="Picture 12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ÉTAPE 2 —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</a:rPr>
              <a:t>Des images brutes aux embeddings visuels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Preprocessing officiel ResNet50 — 2 048 features par image</a:t>
            </a:r>
          </a:p>
        </p:txBody>
      </p:sp>
      <p:pic>
        <p:nvPicPr>
          <p:cNvPr id="6" name="Picture 5" descr="projet10_etape2_architecture_general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97280"/>
            <a:ext cx="901065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Pipeline de preprocessing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Preprocessing officiel ResNet50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weights = ResNet50_Weights.DEFAULT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preprocess = weights.transforms()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Pipeline unique — pas de transforms parallèle</a:t>
            </a:r>
          </a:p>
        </p:txBody>
      </p:sp>
      <p:pic>
        <p:nvPicPr>
          <p:cNvPr id="8" name="Picture 7" descr="etape2_diagramme_activite_pipeline_preprocessing_resnet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417320"/>
            <a:ext cx="6492240" cy="48407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498348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Dataset unifié et contrôle visuel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1 506 images dans un DataFrame unique (6 colonnes de métadonnées)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DataLoader shuffle=False — ordre stable garanti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Vérification visuelle avec OpenCV (brute vs preprocessed)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Batch size = 32 → 48 batches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98348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Outils de l'école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torchvision — preprocessing officiel + modèle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OpenCV (cv2) — chargement brut + conversion BGR→RGB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PIL (Pillow) — ouverture dans le Dataset custom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numpy, pandas, matplotlib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5" name="Picture 14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6" name="Picture 15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Modèle ResNet50 — Configuration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5156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Opération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Code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Effet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Geler les poids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requires_grad = False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Paramètres non modifiés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Mode inférence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model.eval()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BatchNorm / Dropout désactivés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Retirer la classification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model.fc = nn.Identity()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Sortie [batch, 2048]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Pas de gradients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torch.no_grad()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Économie de mémoire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23,5M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Paramètres totaux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Entraînables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2 048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Features / image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4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6B6B6B"/>
                </a:solidFill>
              </a:rPr>
              <a:t>CPU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Device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4" name="Picture 2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5" name="Picture 2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Résultats de l'extraction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1 506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Images traitées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2 048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Features / image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0 NaN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Intégrité OK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6B6B6B"/>
                </a:solidFill>
              </a:rPr>
              <a:t>~108s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Temps (CPU)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31520" y="3017520"/>
          <a:ext cx="45720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Métrique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Valeur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Shape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(1 506, 2 048)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0.0000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8.1477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0.1007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0.3043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897880" y="2788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3A5C"/>
                </a:solidFill>
              </a:rPr>
              <a:t>Synthèse visuelle de l'étape 2</a:t>
            </a:r>
          </a:p>
        </p:txBody>
      </p:sp>
      <p:pic>
        <p:nvPicPr>
          <p:cNvPr id="21" name="Picture 20" descr="projet10_etape2_architecture_detaill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3154680"/>
            <a:ext cx="5623560" cy="316493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6" name="Picture 25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7" name="Picture 26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ÉTAPE 3 —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</a:rPr>
              <a:t>De la haute dimension aux pseudo-labels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PCA, t-SNE, K-Means, DBSCAN — labellisation faible</a:t>
            </a:r>
          </a:p>
        </p:txBody>
      </p:sp>
      <p:pic>
        <p:nvPicPr>
          <p:cNvPr id="6" name="Picture 5" descr="etape3_diagramme_composants_architecture_clust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97280"/>
            <a:ext cx="3160387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Réduction de dimension (PCA &amp; t-SNE)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Standardisation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StandardScaler : mean=0, std=1 sur 2 048 features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Nécessaire avant PCA et calcul de distances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PCA — Variance expliquée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100 composantes → 58 % de variance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50 composantes → 46 % de variance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90 % non atteint avec 100 composantes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→ Information très distribuée (ResNet50 = ImageNet)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2 048→50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Réduction PCA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8116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46 %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6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Variance (50D)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7889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3A5C"/>
                </a:solidFill>
              </a:rPr>
              <a:t>Workflow de reduction et visualisation</a:t>
            </a:r>
          </a:p>
        </p:txBody>
      </p:sp>
      <p:pic>
        <p:nvPicPr>
          <p:cNvPr id="16" name="Picture 15" descr="etape3_diagramme_activite_reduction_dimension_pca_ts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154680"/>
            <a:ext cx="4892040" cy="366389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1" name="Picture 20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2" name="Picture 21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Clustering &amp; Pseudo-labellisation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51560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Méthode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Clusters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ARI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Commentaire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K-Means (k=2)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582 / 924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0.1538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Alignement modéré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DBSCAN (50D)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+ bruit (41%)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0.0000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Inadapté en 50D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32004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Mapping (vote majoritaire sur 100 labels)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Cluster 0 → cancer (22 cancer vs 2 normal)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Cluster 1 → normal (48 normal vs 28 cancer)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99923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3A5C"/>
                </a:solidFill>
              </a:rPr>
              <a:t>Pseudo-labellisation séparée</a:t>
            </a:r>
          </a:p>
        </p:txBody>
      </p:sp>
      <p:pic>
        <p:nvPicPr>
          <p:cNvPr id="10" name="Picture 9" descr="etape3_diagramme_activite_labellisation_faible_sepe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10128"/>
            <a:ext cx="4709160" cy="3762901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31520" y="53035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949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0.1538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989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ARI K-Means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53035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53949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1 406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5989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Pseudo-labellisées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53035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53949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100 %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5989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Images assignées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4" name="Picture 23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5" name="Picture 24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BILAN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</a:rPr>
              <a:t>Résultats et prochaines étapes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Validation des étapes 1-3, préparation du semi-supervisé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Synthèse &amp; Prochaines étapes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Étape 1 — Exploration ✓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Dataset propre, homogène, exploitable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1 506 images vérifiées — aucune anomalie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Fort déséquilibre : ~6,6 % de labels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46304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Étape 2 — Features ✓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Preprocessing officiel ResNet50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2 048 features / image — 0 NaN, 0 Inf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Sauvegarde features.npy + metadata.csv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46304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Étape 3 — Clustering ✓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PCA 50D + t-SNE (visualisation)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K-Means ARI = 0.15 (modéré)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1 406 pseudo-labels produits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Prochaines étapes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Étape 4 — Apprentissage semi-supervisé (100 labels forts + 1 406 pseudo-labels)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Fine-tuning ou label propagation pour améliorer les prédictions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Recommandations pour passage à l'échelle (5 000 € / 4M images)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5" name="Picture 14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6" name="Picture 15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