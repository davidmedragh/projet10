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</a:rPr>
              <a:t>ANALYSE D'IRM CÉRÉBRALES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D4A03C"/>
                </a:solidFill>
              </a:rPr>
              <a:t>APPROCHES SEMI-SUPERVISÉES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291840"/>
            <a:ext cx="2743200" cy="3810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BBBBBB"/>
                </a:solidFill>
              </a:rPr>
              <a:t>Projet BrainScanAI — CurelyticsIA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500" b="0">
                <a:solidFill>
                  <a:srgbClr val="888888"/>
                </a:solidFill>
              </a:rPr>
              <a:t>Exploration, extraction de features, clustering et semi-supervisé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84632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</a:rPr>
              <a:t>David MEDRAGH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</a:rPr>
              <a:t>Data Scientist — CurelyticsIA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</a:rPr>
              <a:t>Mai 2026</a:t>
            </a:r>
          </a:p>
        </p:txBody>
      </p:sp>
      <p:pic>
        <p:nvPicPr>
          <p:cNvPr id="9" name="Picture 8" descr="logo_Curelytics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669280"/>
            <a:ext cx="710432" cy="548640"/>
          </a:xfrm>
          <a:prstGeom prst="rect">
            <a:avLst/>
          </a:prstGeom>
        </p:spPr>
      </p:pic>
      <p:pic>
        <p:nvPicPr>
          <p:cNvPr id="10" name="Picture 9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0" y="566928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Sommaire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4A03C"/>
                </a:solidFill>
              </a:rPr>
              <a:t>Étape 1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</a:rPr>
              <a:t>Exploration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Contexte &amp; Dataset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Vérification technique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Échantillon visuel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4A03C"/>
                </a:solidFill>
              </a:rPr>
              <a:t>Étape 2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</a:rPr>
              <a:t>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28600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Pipeline preprocessing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Modèle ResNet50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</a:rPr>
              <a:t>▸  Résultats extraction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4A03C"/>
                </a:solidFill>
              </a:rPr>
              <a:t>Étape 3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</a:rPr>
              <a:t>Clustering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28600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▸  À venir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4A03C"/>
                </a:solidFill>
              </a:rPr>
              <a:t>Étape 4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</a:rPr>
              <a:t>Semi-supervisé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286000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▸  À venir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17" name="Picture 16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8" name="Picture 17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D4A03C"/>
                </a:solidFill>
              </a:rPr>
              <a:t>ÉTAPE 1 — EXPLORATION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</a:rPr>
              <a:t>Contexte, dataset et vérification technique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</a:rPr>
              <a:t>Inventaire complet, contrôle qualité et écarts documentés</a:t>
            </a:r>
          </a:p>
        </p:txBody>
      </p:sp>
      <p:pic>
        <p:nvPicPr>
          <p:cNvPr id="6" name="Picture 5" descr="stack_technique_slide_etap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097280"/>
            <a:ext cx="901065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Contexte &amp; Dataset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CurelyticsIA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Startup e-santé — analyse d'images médicales par IA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Projet R&amp;D BrainScanAI : détection de tumeurs cérébrales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Dataset d'IRM collecté auprès de radiologues experts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03C"/>
                </a:solidFill>
              </a:rPr>
              <a:t>1 506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Images totales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8116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7AE60"/>
                </a:solidFill>
              </a:rPr>
              <a:t>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Labellisées (6,6 %)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0175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Structure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avec_labels/cancer/    →  50 IRM avec tumeurs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avec_labels/normal/    →  50 IRM cerveaux sains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sans_label/                 → 1 406 IRM non étiquetées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114800"/>
            <a:ext cx="201168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06240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B3A5C"/>
                </a:solidFill>
              </a:rPr>
              <a:t>512×512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800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Résolution (px)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17520" y="4114800"/>
            <a:ext cx="201168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54680" y="4206240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JPEG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800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Format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486400"/>
            <a:ext cx="201168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577840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RGB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6172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Mode couleur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5486400"/>
            <a:ext cx="201168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54680" y="5577840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E67E22"/>
                </a:solidFill>
              </a:rPr>
              <a:t>~6,6 %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4680" y="6172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Labels disponibles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31" name="Picture 30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32" name="Picture 31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Vérification technique &amp; Écarts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1B3A5C"/>
                </a:solidFill>
              </a:rPr>
              <a:t>Résultats du scan complet (1 506 images)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7AE60"/>
                </a:solidFill>
              </a:rPr>
              <a:t>  ✓  Toutes les images lisibles — aucune corrompue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7AE60"/>
                </a:solidFill>
              </a:rPr>
              <a:t>  ✓  Résolution homogène : 512×512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7AE60"/>
                </a:solidFill>
              </a:rPr>
              <a:t>  ✓  Format uniformément JPEG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7AE60"/>
                </a:solidFill>
              </a:rPr>
              <a:t>  ✓  Mode couleur uniformément RGB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27AE60"/>
                </a:solidFill>
              </a:rPr>
              <a:t>  ✓  Aucun doublon entre les 3 dossiers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7920" y="1645920"/>
          <a:ext cx="54864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Critère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Énoncé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Réel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Commentaire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Format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PNG (courriel)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JPEG (.jpg)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Fichier descriptif confirme JPEG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Non étiquetées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1 400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1 406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+6 images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1 500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1 506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Écart cohérent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Métadonnées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Non mentionnées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Absentes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Dossiers = labels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</a:rPr>
              <a:t>→  Écarts mineurs et documentés. Dataset propre, exploitable en l'état.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14" name="Picture 13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5" name="Picture 14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Échantillon visuel — 5 images par catégorie</a:t>
            </a:r>
          </a:p>
        </p:txBody>
      </p:sp>
      <p:pic>
        <p:nvPicPr>
          <p:cNvPr id="7" name="Picture 6" descr="echantillon_visuel_etap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418320" cy="582532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12" name="Picture 11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3" name="Picture 12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D4A03C"/>
                </a:solidFill>
              </a:rPr>
              <a:t>ÉTAPE 2 —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</a:rPr>
              <a:t>Des images brutes aux embeddings visuels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</a:rPr>
              <a:t>Preprocessing officiel ResNet50 — 2 048 features par image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Pipeline de preprocessing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Preprocessing officiel ResNet50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weights = ResNet50_Weights.DEFAULT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preprocess = weights.transforms()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Pipeline unique — pas de transforms parallèle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Étapes du pipeline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Resize(232) — côté court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CenterCrop(224) — recadrage central 224×224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ToTensor() → tenseur [0, 1]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Normalize(mean ImageNet, std ImageNet)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Dataset unifié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1 506 images dans un DataFrame unique (6 colonnes de métadonnées)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DataLoader shuffle=False — ordre stable garanti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Vérification visuelle avec OpenCV (brute vs preprocessed)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Outils de l'école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torchvision — preprocessing officiel + modèle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OpenCV (cv2) — chargement brut + conversion BGR→RGB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PIL (Pillow) — ouverture dans le Dataset custom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numpy, pandas, matplotlib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15" name="Picture 14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6" name="Picture 15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Modèle ResNet50 — Configuration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105156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Opération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Code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Effet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Geler les poids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requires_grad = False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Paramètres non modifiés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Mode inférence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model.eval()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BatchNorm / Dropout désactivés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Retirer la classification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model.fc = nn.Identity()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Sortie [batch, 2048]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Pas de gradients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torch.no_grad()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Économie de mémoire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1520" y="41148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062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23,5M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Paramètres totaux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41148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42062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7AE60"/>
                </a:solidFill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Entraînables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41148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42062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03C"/>
                </a:solidFill>
              </a:rPr>
              <a:t>2 048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Features / image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41148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9640" y="42062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6B6B6B"/>
                </a:solidFill>
              </a:rPr>
              <a:t>CPU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Device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24" name="Picture 23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5" name="Picture 24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Résultats de l'extraction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4A03C"/>
                </a:solidFill>
              </a:rPr>
              <a:t>1 506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Images traitées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3A7CBD"/>
                </a:solidFill>
              </a:rPr>
              <a:t>2 048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Features / image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7AE60"/>
                </a:solidFill>
              </a:rPr>
              <a:t>0 NaN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Intégrité OK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964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6B6B6B"/>
                </a:solidFill>
              </a:rPr>
              <a:t>~108s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</a:rPr>
              <a:t>Temps (CPU)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31520" y="3017520"/>
          <a:ext cx="457200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Métrique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Valeur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Shape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(1 506, 2 048)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0.0000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8.1477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Mean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0.1007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0.3043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400800" y="30175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Sauvegarde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features.npy — matrice (1 506, 2 048)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metadata.csv — 6 colonnes de métadonnées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Tableau exploitable : 1 506 × 2 054 colonnes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8463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Métadonnées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path, filename, dossier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label_name, label_id (Int64), is_labeled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26" name="Picture 25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7" name="Picture 26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D4A03C"/>
                </a:solidFill>
              </a:rPr>
              <a:t>BILAN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</a:rPr>
              <a:t>Résultats et prochaines étapes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400" b="0">
                <a:solidFill>
                  <a:srgbClr val="888888"/>
                </a:solidFill>
              </a:rPr>
              <a:t>Validation des étapes 1-2, préparation du clustering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4A03C"/>
                </a:solidFill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</a:rPr>
              <a:t>Synthèse &amp; Prochaines étapes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Étape 1 — Exploration ✓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Dataset propre, homogène, exploitable en l'état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1 506 images vérifiées — aucune anomalie bloquante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Écarts documentés (format, nombre d'images)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Fort déséquilibre : ~6,6 % de labels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Étape 2 — Features ✓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Preprocessing officiel ResNet50 appliqué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2 048 features extraites pour chaque image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0 NaN, 0 Inf — extraction propre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Sauvegarde features.npy + metadata.csv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B3A5C"/>
                </a:solidFill>
              </a:rPr>
              <a:t>Prochaines étapes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Étape 3 — Réduction de dimension + clustering exploratoire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Étape 4 — Apprentissage semi-supervisé avec labels partiels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D2D2D"/>
                </a:solidFill>
              </a:rPr>
              <a:t>▸  Recommandations pour passage à l'échelle (5 000 € / 4M images)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CurelyticsIA — Projet BrainScanAI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AAAAA"/>
                </a:solidFill>
              </a:rPr>
              <a:t>David Medragh — Data Scientist</a:t>
            </a:r>
          </a:p>
        </p:txBody>
      </p:sp>
      <p:pic>
        <p:nvPicPr>
          <p:cNvPr id="14" name="Picture 13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5" name="Picture 14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