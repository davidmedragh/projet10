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</a:rPr>
              <a:t>ANALYSE D'IRM CÉRÉBRALES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D4A03C"/>
                </a:solidFill>
              </a:rPr>
              <a:t>APPROCHES SEMI-SUPERVISÉES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2743200" cy="381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BBBBB"/>
                </a:solidFill>
              </a:rPr>
              <a:t>Projet BrainScanAI — CurelyticsIA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888888"/>
                </a:solidFill>
              </a:rPr>
              <a:t>Exploration, extraction de features, clustering et semi-supervisé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David MEDRAGH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</a:rPr>
              <a:t>Data Scientist — CurelyticsIA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</a:rPr>
              <a:t>Mai 2026</a:t>
            </a:r>
          </a:p>
        </p:txBody>
      </p:sp>
      <p:pic>
        <p:nvPicPr>
          <p:cNvPr id="9" name="Picture 8" descr="logo_Curelytics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669280"/>
            <a:ext cx="710432" cy="548640"/>
          </a:xfrm>
          <a:prstGeom prst="rect">
            <a:avLst/>
          </a:prstGeom>
        </p:spPr>
      </p:pic>
      <p:pic>
        <p:nvPicPr>
          <p:cNvPr id="10" name="Picture 9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669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A03C"/>
                </a:solidFill>
              </a:rPr>
              <a:t>Étape 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</a:rPr>
              <a:t>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Contexte &amp; Dataset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Vérification technique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Échantillon visuel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A03C"/>
                </a:solidFill>
              </a:rPr>
              <a:t>Étape 2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</a:rP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Pipeline preprocessing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Modèle ResNet50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Résultats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A03C"/>
                </a:solidFill>
              </a:rPr>
              <a:t>Étape 3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</a:rPr>
              <a:t>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Réduction PCA / t-SNE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K-Means &amp; DBSCAN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Score ARI &amp; pseudo-labels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4A03C"/>
                </a:solidFill>
              </a:rPr>
              <a:t>Étape 4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</a:rPr>
              <a:t>Semi-supervisé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2860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CNN fine-tuné (ResNet50)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Supervisé vs Semi-supervisé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</a:rPr>
              <a:t>▸  Résultats &amp; Bilan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17" name="Picture 16" descr="logo_openclass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18" name="Picture 17" descr="logo_Curelytic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D4A03C"/>
                </a:solidFill>
              </a:rPr>
              <a:t>ÉTAPE 1 —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</a:rPr>
              <a:t>Contexte, dataset et vérification technique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</a:rPr>
              <a:t>Inventaire complet, contrôle qualité et écarts documentés</a:t>
            </a:r>
          </a:p>
        </p:txBody>
      </p:sp>
      <p:pic>
        <p:nvPicPr>
          <p:cNvPr id="6" name="Picture 5" descr="stack_technique_slide_et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90106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Contexte &amp;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CurelyticsIA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Startup e-santé — analyse d'images médicales par IA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Projet R&amp;D BrainScanAI : détection de tumeurs cérébrales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Dataset d'IRM collecté auprès de radiologues experts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1 506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Images totales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7AE60"/>
                </a:solidFill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Labellisées (6,6 %)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Structure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avec_labels/cancer/    →  50 IRM avec tumeurs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avec_labels/normal/    →  50 IRM cerveaux sains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sans_label/                 → 1 406 IRM non étiquetées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01168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3A5C"/>
                </a:solidFill>
              </a:rPr>
              <a:t>512×512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Résolution (px)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4114800"/>
            <a:ext cx="201168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420624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JPEG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800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Format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201168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7784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RGB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172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Mode couleur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486400"/>
            <a:ext cx="201168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557784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7E22"/>
                </a:solidFill>
              </a:rPr>
              <a:t>~6,6 %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172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Labels disponibles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31" name="Picture 30" descr="logo_openclass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32" name="Picture 31" descr="logo_Curelytic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Vérification technique &amp; Écarts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B3A5C"/>
                </a:solidFill>
              </a:rPr>
              <a:t>Résultats du scan complet (1 506 images)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7AE60"/>
                </a:solidFill>
              </a:rPr>
              <a:t>  ✓  Toutes les images lisibles — aucune corrompue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7AE60"/>
                </a:solidFill>
              </a:rPr>
              <a:t>  ✓  Résolution homogène : 512×512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7AE60"/>
                </a:solidFill>
              </a:rPr>
              <a:t>  ✓  Format uniformément JPEG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7AE60"/>
                </a:solidFill>
              </a:rPr>
              <a:t>  ✓  Mode couleur uniformément RGB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7AE60"/>
                </a:solidFill>
              </a:rPr>
              <a:t>  ✓  Aucun doublon entre les 3 dossiers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Critère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Énoncé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Commentaire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PNG (courriel)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JPEG (.jpg)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Fichier descriptif confirme JPEG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Non étiquetées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1 400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1 406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+6 images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1 506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Écart cohérent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Métadonnées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Non mentionnées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Absentes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Dossiers = labels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</a:rPr>
              <a:t>→  Écarts mineurs et documentés. Dataset propre, exploitable en l'état.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14" name="Picture 13" descr="logo_openclass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15" name="Picture 14" descr="logo_Curelytic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Échantillon visuel — 5 images par catégorie</a:t>
            </a:r>
          </a:p>
        </p:txBody>
      </p:sp>
      <p:pic>
        <p:nvPicPr>
          <p:cNvPr id="7" name="Picture 6" descr="echantillon_visuel_et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58253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12" name="Picture 11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13" name="Picture 12" descr="logo_Curelytics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D4A03C"/>
                </a:solidFill>
              </a:rPr>
              <a:t>ÉTAPE 2 —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</a:rPr>
              <a:t>Des images brutes aux embeddings visuels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</a:rPr>
              <a:t>Preprocessing officiel ResNet50 — 2 048 features par image</a:t>
            </a:r>
          </a:p>
        </p:txBody>
      </p:sp>
      <p:pic>
        <p:nvPicPr>
          <p:cNvPr id="6" name="Picture 5" descr="projet10_etape2_architecture_genera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90106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Pipeline de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Preprocessing officiel ResNet50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weights = ResNet50_Weights.DEFAULT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preprocess = weights.transforms()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Pipeline unique — pas de transforms parallèle</a:t>
            </a:r>
          </a:p>
        </p:txBody>
      </p:sp>
      <p:pic>
        <p:nvPicPr>
          <p:cNvPr id="8" name="Picture 7" descr="etape2_diagramme_activite_pipeline_preprocessing_resnet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6492240" cy="48407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983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Dataset unifié et contrôle visuel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1 506 images dans un DataFrame unique (6 colonnes de métadonnées)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DataLoader shuffle=False — ordre stable garanti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Vérification visuelle avec OpenCV (brute vs preprocessed)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Batch size = 32 → 48 batches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983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Outils de l'école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torchvision — preprocessing officiel + modèle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OpenCV (cv2) — chargement brut + conversion BGR→RGB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PIL (Pillow) — ouverture dans le Dataset custom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numpy, pandas, matplotlib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15" name="Picture 14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16" name="Picture 15" descr="logo_Curelytics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Modèle ResNet50 — Configuration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Opération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Geler les poids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requires_grad =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Paramètres non modifiés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Mode inférence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model.eval()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BatchNorm / Dropout désactivés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Retirer la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model.fc = nn.Identity()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Sortie [batch, 2048]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Pas de gradients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torch.no_grad()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Économie de mémoire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1148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23,5M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Paramètres totaux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1148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2062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7AE60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Entraînables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41148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2062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2 048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Features /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1148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42062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B6B6B"/>
                </a:solidFill>
              </a:rPr>
              <a:t>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Device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24" name="Picture 23" descr="logo_openclass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25" name="Picture 24" descr="logo_Curelytic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Résultats de l'extraction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1 506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Images traitées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2 048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Features / image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7AE60"/>
                </a:solidFill>
              </a:rPr>
              <a:t>0 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Intégrité 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B6B6B"/>
                </a:solidFill>
              </a:rPr>
              <a:t>~108s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Temps (CPU)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017520"/>
          <a:ext cx="4572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(1 506, 2 048)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8.1477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0.1007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0.3043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978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5C"/>
                </a:solidFill>
              </a:rPr>
              <a:t>Synthèse visuelle de l'étape 2</a:t>
            </a:r>
          </a:p>
        </p:txBody>
      </p:sp>
      <p:pic>
        <p:nvPicPr>
          <p:cNvPr id="21" name="Picture 20" descr="projet10_etape2_architecture_detaill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154680"/>
            <a:ext cx="5623560" cy="316493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26" name="Picture 25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27" name="Picture 26" descr="logo_Curelytics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D4A03C"/>
                </a:solidFill>
              </a:rPr>
              <a:t>ÉTAPE 3 —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</a:rPr>
              <a:t>De la haute dimension aux pseudo-labels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</a:rPr>
              <a:t>PCA, t-SNE, K-Means, DBSCAN — labellisation faible</a:t>
            </a:r>
          </a:p>
        </p:txBody>
      </p:sp>
      <p:pic>
        <p:nvPicPr>
          <p:cNvPr id="6" name="Picture 5" descr="etape3_diagramme_composants_architecture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316038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Réduction de dimension (PCA &amp; t-SNE)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Standardisation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StandardScaler : mean=0, std=1 sur 2 048 features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Nécessaire avant PCA et calcul de distances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PCA — Variance expliquée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100 composantes → 58 % de variance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50 composantes → 46 % de variance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90 % non atteint avec 100 composantes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→ Information très distribuée (ResNet50 = ImageNet)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2 048→50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Réduction PCA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46304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5544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Variance (50D)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5C"/>
                </a:solidFill>
              </a:rPr>
              <a:t>Workflow de reduction et visualisation</a:t>
            </a:r>
          </a:p>
        </p:txBody>
      </p:sp>
      <p:pic>
        <p:nvPicPr>
          <p:cNvPr id="16" name="Picture 15" descr="etape3_diagramme_activite_reduction_dimension_pca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154680"/>
            <a:ext cx="4892040" cy="366389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21" name="Picture 20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22" name="Picture 21" descr="logo_Curelytics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Clustering &amp; Pseudo-labellisation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Méthode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Commentaire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K-Means (k=2)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582 / 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0.1538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Alignement modéré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DBSCAN (50D)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 + bruit (41%)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Inadapté en 50D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004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Mapping (vote majoritaire sur 100 labels)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Cluster 0 → cancer (22 cancer vs 2 normal)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Cluster 1 → normal (48 normal vs 28 cancer)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999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5C"/>
                </a:solidFill>
              </a:rPr>
              <a:t>Pseudo-labellisation séparée</a:t>
            </a:r>
          </a:p>
        </p:txBody>
      </p:sp>
      <p:pic>
        <p:nvPicPr>
          <p:cNvPr id="10" name="Picture 9" descr="etape3_diagramme_activite_labellisation_faible_sepe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310128"/>
            <a:ext cx="4709160" cy="37629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53035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0.1538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ARI K-Means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53035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53949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1 406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Pseudo-labellisées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53035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53949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7AE60"/>
                </a:solidFill>
              </a:rPr>
              <a:t>100 %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Images assignées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24" name="Picture 23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25" name="Picture 24" descr="logo_Curelytics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D4A03C"/>
                </a:solidFill>
              </a:rPr>
              <a:t>ÉTAPE 4 — SEMI-SUPERVISÉ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</a:rPr>
              <a:t>Du clustering au CNN fine-tuné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</a:rPr>
              <a:t>Supervisé pur vs semi-supervisé — comparaison rigoureuse</a:t>
            </a:r>
          </a:p>
        </p:txBody>
      </p:sp>
      <p:pic>
        <p:nvPicPr>
          <p:cNvPr id="6" name="Picture 5" descr="etape4_diagramme_composants_architecture_cnn_semi_superv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3991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Méthodologie semi-supervisée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Architecture CNN (fine-tuning ResNet50)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layer4 + fc dégelés → 14,9M / 23,5M params entraînables (63,7 %)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fc remplacé par Linear(2048, 2) — classification binaire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CrossEntropyLoss + Adam (lr=1e-4) — 10 époques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Protocole anti-fuite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Re-fit KMeans sur 1 486 images (hors test)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Mapping cluster → classe sur les 64 images train uniquement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Test set jamais exposé au clustering ni au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Split des données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64 labellisées → train (32 cancer + 32 normal)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20 labellisées → test (10 cancer + 10 normal)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1 406 pseudo-labellisées → entraînement modèle B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16 restantes → non utilisées (trop proches test)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6576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7490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63,7 %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43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Params entraînables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6576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37490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1 486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343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Images re-clustering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0292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1206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7AE60"/>
                </a:solidFill>
              </a:rPr>
              <a:t>64+1406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715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Train (B)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502920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51206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B6B6B"/>
                </a:solidFill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5715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Test (isolé)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26" name="Picture 25" descr="logo_openclass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27" name="Picture 26" descr="logo_Curelytic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Résultats &amp; Bilan final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(macro)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cancer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Précision cancer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 — Supervisé 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 — Semi-supervisé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Δ (B −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34747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7AE60"/>
                </a:solidFill>
              </a:rPr>
              <a:t>+10 %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Recall cancer (B &gt; 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4747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5661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4A03C"/>
                </a:solidFill>
              </a:rPr>
              <a:t>0.85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F1 semi-supervisé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4747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5661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A7CBD"/>
                </a:solidFill>
              </a:rPr>
              <a:t>1 406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Pseudo-labels utilisés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3474720"/>
            <a:ext cx="2286000" cy="1188720"/>
          </a:xfrm>
          <a:prstGeom prst="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5661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B6B6B"/>
                </a:solidFill>
              </a:rPr>
              <a:t>5 000 €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</a:rPr>
              <a:t>Budget passage échelle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24" name="Picture 23" descr="logo_openclass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25" name="Picture 24" descr="logo_Curelytic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4A03C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74320"/>
            <a:ext cx="25400" cy="6400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Bilan du projet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L'approche semi-supervisée apporte un gain mesurable (+10% recall cancer)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Pipeline complet validé : preprocessing → features → clustering → fine-tuning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Passage à l'échelle faisable : inférence + active learning itératif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3A5C"/>
                </a:solidFill>
              </a:rPr>
              <a:t>Limites &amp; Recommandations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Jeu test de 20 images — résultats exploratoires, pas cliniques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Recommandation : collecte de labels supplémentaires via active learning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2D2D2D"/>
                </a:solidFill>
              </a:rPr>
              <a:t>▸  Perspective : validation sur un jeu externe et collaboration radiologues</a:t>
            </a:r>
          </a:p>
        </p:txBody>
      </p:sp>
      <p:pic>
        <p:nvPicPr>
          <p:cNvPr id="9" name="Picture 8" descr="projet10_diagramme_activite_workflow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935242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92240"/>
            <a:ext cx="121916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CurelyticsIA — Projet BrainScanAI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A7CBD"/>
                </a:solidFill>
              </a:rPr>
              <a:t>Projet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AAA"/>
                </a:solidFill>
              </a:rPr>
              <a:t>David Medragh — Data Scientist</a:t>
            </a:r>
          </a:p>
        </p:txBody>
      </p:sp>
      <p:pic>
        <p:nvPicPr>
          <p:cNvPr id="14" name="Picture 13" descr="logo_openclassro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6519672"/>
            <a:ext cx="274320" cy="274320"/>
          </a:xfrm>
          <a:prstGeom prst="rect">
            <a:avLst/>
          </a:prstGeom>
        </p:spPr>
      </p:pic>
      <p:pic>
        <p:nvPicPr>
          <p:cNvPr id="15" name="Picture 14" descr="logo_Curelytics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19672"/>
            <a:ext cx="355216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10 — Approches semi-supervisées en traitement d'images</dc:title>
  <dc:subject>OpenClassrooms — Data Scientist</dc:subject>
  <dc:creator>David MEDRAGH</dc:creator>
  <cp:keywords/>
  <dc:description/>
  <cp:lastModifiedBy>David MEDRAGH</cp:lastModifiedBy>
  <cp:revision>1</cp:revision>
  <dcterms:created xsi:type="dcterms:W3CDTF">2026-05-16T00:00:00Z</dcterms:created>
  <dcterms:modified xsi:type="dcterms:W3CDTF">2026-05-16T00:00:00Z</dcterms:modified>
  <cp:category/>
</cp:coreProperties>
</file>