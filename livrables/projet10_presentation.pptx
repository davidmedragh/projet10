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78" y="6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3B53F2-7FA7-436F-8229-0D008C4FD363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516B2-C667-4902-95CF-C182F91226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0E80E-77DB-4511-B69F-06BFE92A7E12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1B302-AD67-4FF4-9D5C-273956DEFE4D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C3DAD-678E-48D0-9BB5-68C46B79EDE9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E9C37-E54A-4833-804E-4A31CEDC4B0D}" type="datetime1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FB78F-F6D6-45EA-8223-53E6F1F1793E}" type="datetime1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6185CA-B99C-42EF-9740-A37A42AABF8B}" type="datetime1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D1BA4-00C1-4D52-BF55-D50B7D2D2B10}" type="datetime1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8D0B7-7ACE-4CC9-B7B5-3659922514AB}" type="datetime1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3DC9-D830-420A-9B27-76B167C5CEC3}" type="datetime1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A74E5-772F-44D8-B685-42164DF99766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64DF5-B8A7-408C-A300-D929C9D8503C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10ACAE-F4DB-474F-B811-0361DEEAF1DA}" type="datetime1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58400" y="6494373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325755" y="163068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1734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325755" y="1903857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000" b="0" noProof="0" dirty="0">
                <a:solidFill>
                  <a:srgbClr val="BBBBBB"/>
                </a:solidFill>
              </a:rPr>
              <a:t>Projet </a:t>
            </a:r>
            <a:r>
              <a:rPr lang="fr-FR" sz="2000" b="0" noProof="0" dirty="0" err="1">
                <a:solidFill>
                  <a:srgbClr val="BBBBBB"/>
                </a:solidFill>
              </a:rPr>
              <a:t>BrainScanAI</a:t>
            </a:r>
            <a:r>
              <a:rPr lang="fr-FR" sz="2000" b="0" noProof="0" dirty="0">
                <a:solidFill>
                  <a:srgbClr val="BBBBBB"/>
                </a:solidFill>
              </a:rPr>
              <a:t> — </a:t>
            </a:r>
            <a:r>
              <a:rPr lang="fr-FR" sz="2000" b="0" noProof="0" dirty="0" err="1">
                <a:solidFill>
                  <a:srgbClr val="BBBBBB"/>
                </a:solidFill>
              </a:rPr>
              <a:t>CurelyticsIA</a:t>
            </a:r>
            <a:endParaRPr lang="fr-FR" sz="2000" b="0" noProof="0" dirty="0">
              <a:solidFill>
                <a:srgbClr val="BBBBBB"/>
              </a:solidFill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500" b="0" noProof="0" dirty="0">
                <a:solidFill>
                  <a:srgbClr val="888888"/>
                </a:solidFill>
              </a:rPr>
              <a:t>Exploration, extraction de </a:t>
            </a:r>
            <a:r>
              <a:rPr lang="fr-FR" sz="1500" b="0" noProof="0" dirty="0" err="1">
                <a:solidFill>
                  <a:srgbClr val="888888"/>
                </a:solidFill>
              </a:rPr>
              <a:t>features</a:t>
            </a:r>
            <a:r>
              <a:rPr lang="fr-FR" sz="1500" b="0" noProof="0" dirty="0">
                <a:solidFill>
                  <a:srgbClr val="888888"/>
                </a:solidFill>
              </a:rPr>
              <a:t>, clustering et semi-supervisé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78781" y="1574292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Data </a:t>
            </a:r>
            <a:r>
              <a:rPr lang="fr-FR" sz="1400" b="0" noProof="0" dirty="0" err="1">
                <a:solidFill>
                  <a:srgbClr val="888888"/>
                </a:solidFill>
              </a:rPr>
              <a:t>Scientist</a:t>
            </a:r>
            <a:r>
              <a:rPr lang="fr-FR" sz="1400" b="0" noProof="0" dirty="0">
                <a:solidFill>
                  <a:srgbClr val="888888"/>
                </a:solidFill>
              </a:rPr>
              <a:t> — </a:t>
            </a:r>
            <a:r>
              <a:rPr lang="fr-FR" sz="1400" b="0" noProof="0" dirty="0" err="1">
                <a:solidFill>
                  <a:srgbClr val="888888"/>
                </a:solidFill>
              </a:rPr>
              <a:t>CurelyticsIA</a:t>
            </a:r>
            <a:endParaRPr lang="fr-FR" sz="1400" b="0" noProof="0" dirty="0">
              <a:solidFill>
                <a:srgbClr val="888888"/>
              </a:solidFill>
            </a:endParaRP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885" y="31623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7605" y="316230"/>
            <a:ext cx="548640" cy="548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2FF246-E2DD-A6E5-A4DD-7C1E8CE2D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639" y="2929890"/>
            <a:ext cx="11710606" cy="364998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138A9DD-A499-A30B-AFAC-075A11A64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</a:t>
            </a:fld>
            <a:endParaRPr lang="fr-FR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 err="1">
                <a:solidFill>
                  <a:srgbClr val="6B6B6B"/>
                </a:solidFill>
              </a:rPr>
              <a:t>Features</a:t>
            </a:r>
            <a:endParaRPr lang="fr-FR" sz="1200" b="0" noProof="0" dirty="0">
              <a:solidFill>
                <a:srgbClr val="6B6B6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6616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Réduction PCA / t-SNE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K-Means &amp; DBSCAN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Score ARI &amp; pseudo-labels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CNN fine-</a:t>
            </a:r>
            <a:r>
              <a:rPr lang="fr-FR" sz="1100" b="0" noProof="0" dirty="0" err="1">
                <a:solidFill>
                  <a:srgbClr val="2D2D2D"/>
                </a:solidFill>
              </a:rPr>
              <a:t>tuné</a:t>
            </a:r>
            <a:r>
              <a:rPr lang="fr-FR" sz="1100" b="0" noProof="0" dirty="0">
                <a:solidFill>
                  <a:srgbClr val="2D2D2D"/>
                </a:solidFill>
              </a:rPr>
              <a:t> (ResNet50)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Supervisé vs Semi-supervisé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Résultats &amp; Bilan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9B23B45-A55C-4DF6-602F-6B7C38470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3127248"/>
            <a:ext cx="11777472" cy="3209544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B9F9CB96-8F5E-62D7-8AC4-357B262D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2</a:t>
            </a:fld>
            <a:endParaRPr lang="fr-FR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365759" y="23280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465392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Contexte, </a:t>
            </a:r>
            <a:r>
              <a:rPr lang="fr-FR" sz="2400" b="0" noProof="0" dirty="0" err="1">
                <a:solidFill>
                  <a:srgbClr val="FFFFFF"/>
                </a:solidFill>
              </a:rPr>
              <a:t>dataset</a:t>
            </a:r>
            <a:r>
              <a:rPr lang="fr-FR" sz="2400" b="0" noProof="0" dirty="0">
                <a:solidFill>
                  <a:srgbClr val="FFFFFF"/>
                </a:solidFill>
              </a:rPr>
              <a:t>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09A389-9F05-9591-F0F4-726785684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3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53BE6F-13A9-75D8-E11B-BB6E38D4E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78" y="1790319"/>
            <a:ext cx="11375137" cy="44714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608" y="1362778"/>
            <a:ext cx="5029200" cy="1279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 err="1">
                <a:solidFill>
                  <a:srgbClr val="1B3A5C"/>
                </a:solidFill>
              </a:rPr>
              <a:t>CurelyticsIA</a:t>
            </a:r>
            <a:endParaRPr lang="fr-FR" sz="1600" b="1" noProof="0" dirty="0">
              <a:solidFill>
                <a:srgbClr val="1B3A5C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Projet R&amp;D </a:t>
            </a:r>
            <a:r>
              <a:rPr lang="fr-FR" sz="1400" b="0" noProof="0" dirty="0" err="1">
                <a:solidFill>
                  <a:srgbClr val="2D2D2D"/>
                </a:solidFill>
              </a:rPr>
              <a:t>BrainScanAI</a:t>
            </a:r>
            <a:r>
              <a:rPr lang="fr-FR" sz="1400" b="0" noProof="0" dirty="0">
                <a:solidFill>
                  <a:srgbClr val="2D2D2D"/>
                </a:solidFill>
              </a:rPr>
              <a:t>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753" y="5431536"/>
            <a:ext cx="2036927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365913" y="5581406"/>
            <a:ext cx="179249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913" y="6117336"/>
            <a:ext cx="17924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55048" y="5431536"/>
            <a:ext cx="2036927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692208" y="5581406"/>
            <a:ext cx="179249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208" y="6117336"/>
            <a:ext cx="17924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84416" y="1362778"/>
            <a:ext cx="5029200" cy="1233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000" y="2871216"/>
            <a:ext cx="2011680" cy="105156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391160" y="29626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1160" y="35570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0000" y="2871216"/>
            <a:ext cx="2011680" cy="9601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2677160" y="29626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7160" y="35570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000" y="4242816"/>
            <a:ext cx="2011680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391160" y="43342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160" y="49286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40000" y="4242816"/>
            <a:ext cx="2011680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2677160" y="43342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77160" y="49286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64A073E4-7FE5-04F1-9E29-C61B5773A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4</a:t>
            </a:fld>
            <a:endParaRPr lang="fr-FR" noProof="0" dirty="0"/>
          </a:p>
        </p:txBody>
      </p:sp>
      <p:pic>
        <p:nvPicPr>
          <p:cNvPr id="34" name="Picture 33" descr="logo_CurelyticsIA.png">
            <a:extLst>
              <a:ext uri="{FF2B5EF4-FFF2-40B4-BE49-F238E27FC236}">
                <a16:creationId xmlns:a16="http://schemas.microsoft.com/office/drawing/2014/main" id="{A9DA9929-7C06-4232-6D72-C3D51F1E5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784" y="1426464"/>
            <a:ext cx="422024" cy="310896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96E23ED-EE6D-9A2D-D6F7-26ADF5B5D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008" y="2806430"/>
            <a:ext cx="6517832" cy="3444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1261872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814729"/>
              </p:ext>
            </p:extLst>
          </p:nvPr>
        </p:nvGraphicFramePr>
        <p:xfrm>
          <a:off x="154048" y="3957307"/>
          <a:ext cx="5230368" cy="1816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0" y="3225787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B346982-24BB-2BE2-6561-B5A6056BC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5</a:t>
            </a:fld>
            <a:endParaRPr lang="fr-FR" noProof="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4159142-0DCA-21B4-13DF-BF35D2EAF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904" y="1274572"/>
            <a:ext cx="5948048" cy="517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3" y="1371600"/>
            <a:ext cx="11902821" cy="4972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98C78B0-C90F-EE5F-DC9D-8C475705B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6</a:t>
            </a:fld>
            <a:endParaRPr lang="fr-FR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82880" y="1828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9355" y="272187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Des images brutes aux </a:t>
            </a:r>
            <a:r>
              <a:rPr lang="fr-FR" sz="2400" b="0" noProof="0" dirty="0" err="1">
                <a:solidFill>
                  <a:srgbClr val="FFFFFF"/>
                </a:solidFill>
              </a:rPr>
              <a:t>embeddings</a:t>
            </a:r>
            <a:r>
              <a:rPr lang="fr-FR" sz="2400" b="0" noProof="0" dirty="0">
                <a:solidFill>
                  <a:srgbClr val="FFFFFF"/>
                </a:solidFill>
              </a:rPr>
              <a:t>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Preprocessing officiel ResNet50 — 2 048 </a:t>
            </a:r>
            <a:r>
              <a:rPr lang="fr-FR" sz="1400" b="0" noProof="0" dirty="0" err="1">
                <a:solidFill>
                  <a:srgbClr val="888888"/>
                </a:solidFill>
              </a:rPr>
              <a:t>features</a:t>
            </a:r>
            <a:r>
              <a:rPr lang="fr-FR" sz="1400" b="0" noProof="0" dirty="0">
                <a:solidFill>
                  <a:srgbClr val="888888"/>
                </a:solidFill>
              </a:rPr>
              <a:t>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59" y="1375866"/>
            <a:ext cx="11534775" cy="50292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65F1B3-6740-A6B9-653D-74F198209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7</a:t>
            </a:fld>
            <a:endParaRPr lang="fr-FR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867ECF-2882-2843-93F2-FBCC242B5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32" y="1240155"/>
            <a:ext cx="8311896" cy="519216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Pipeline de </a:t>
            </a:r>
            <a:r>
              <a:rPr lang="en-US" sz="2600" b="1" noProof="0" dirty="0">
                <a:solidFill>
                  <a:srgbClr val="FFFFFF"/>
                </a:solidFill>
              </a:rPr>
              <a:t>preprocessing</a:t>
            </a:r>
            <a:endParaRPr lang="fr-FR" sz="2600" b="1" noProof="0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" y="1369695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weights</a:t>
            </a:r>
            <a:r>
              <a:rPr lang="fr-FR" sz="1300" b="0" noProof="0" dirty="0">
                <a:solidFill>
                  <a:srgbClr val="2D2D2D"/>
                </a:solidFill>
              </a:rPr>
              <a:t>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preprocess</a:t>
            </a:r>
            <a:r>
              <a:rPr lang="fr-FR" sz="1300" b="0" noProof="0" dirty="0">
                <a:solidFill>
                  <a:srgbClr val="2D2D2D"/>
                </a:solidFill>
              </a:rPr>
              <a:t> = </a:t>
            </a:r>
            <a:r>
              <a:rPr lang="fr-FR" sz="1300" b="0" noProof="0" dirty="0" err="1">
                <a:solidFill>
                  <a:srgbClr val="2D2D2D"/>
                </a:solidFill>
              </a:rPr>
              <a:t>weights.transforms</a:t>
            </a:r>
            <a:r>
              <a:rPr lang="fr-FR" sz="1300" b="0" noProof="0" dirty="0">
                <a:solidFill>
                  <a:srgbClr val="2D2D2D"/>
                </a:solidFill>
              </a:rPr>
              <a:t>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Pipeline unique — pas de </a:t>
            </a:r>
            <a:r>
              <a:rPr lang="fr-FR" sz="1300" b="0" noProof="0" dirty="0" err="1">
                <a:solidFill>
                  <a:srgbClr val="2D2D2D"/>
                </a:solidFill>
              </a:rPr>
              <a:t>transforms</a:t>
            </a:r>
            <a:r>
              <a:rPr lang="fr-FR" sz="1300" b="0" noProof="0" dirty="0">
                <a:solidFill>
                  <a:srgbClr val="2D2D2D"/>
                </a:solidFill>
              </a:rPr>
              <a:t> parallèle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" y="257175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1 506 images dans un </a:t>
            </a:r>
            <a:r>
              <a:rPr lang="fr-FR" sz="1300" b="0" noProof="0" dirty="0" err="1">
                <a:solidFill>
                  <a:srgbClr val="2D2D2D"/>
                </a:solidFill>
              </a:rPr>
              <a:t>DataFrame</a:t>
            </a:r>
            <a:r>
              <a:rPr lang="fr-FR" sz="1300" b="0" noProof="0" dirty="0">
                <a:solidFill>
                  <a:srgbClr val="2D2D2D"/>
                </a:solidFill>
              </a:rPr>
              <a:t>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DataLoader</a:t>
            </a:r>
            <a:r>
              <a:rPr lang="fr-FR" sz="1300" b="0" noProof="0" dirty="0">
                <a:solidFill>
                  <a:srgbClr val="2D2D2D"/>
                </a:solidFill>
              </a:rPr>
              <a:t> </a:t>
            </a:r>
            <a:r>
              <a:rPr lang="fr-FR" sz="1300" b="0" noProof="0" dirty="0" err="1">
                <a:solidFill>
                  <a:srgbClr val="2D2D2D"/>
                </a:solidFill>
              </a:rPr>
              <a:t>shuffle</a:t>
            </a:r>
            <a:r>
              <a:rPr lang="fr-FR" sz="1300" b="0" noProof="0" dirty="0">
                <a:solidFill>
                  <a:srgbClr val="2D2D2D"/>
                </a:solidFill>
              </a:rPr>
              <a:t>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Vérification visuelle avec OpenCV (brute vs </a:t>
            </a:r>
            <a:r>
              <a:rPr lang="fr-FR" sz="1300" b="0" noProof="0" dirty="0" err="1">
                <a:solidFill>
                  <a:srgbClr val="2D2D2D"/>
                </a:solidFill>
              </a:rPr>
              <a:t>preprocessed</a:t>
            </a:r>
            <a:r>
              <a:rPr lang="fr-FR" sz="1300" b="0" noProof="0" dirty="0">
                <a:solidFill>
                  <a:srgbClr val="2D2D2D"/>
                </a:solidFill>
              </a:rPr>
              <a:t>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Batch size = 32 → 48 </a:t>
            </a:r>
            <a:r>
              <a:rPr lang="fr-FR" sz="1300" b="0" noProof="0" dirty="0" err="1">
                <a:solidFill>
                  <a:srgbClr val="2D2D2D"/>
                </a:solidFill>
              </a:rPr>
              <a:t>batches</a:t>
            </a:r>
            <a:endParaRPr lang="fr-FR" sz="1300" b="0" noProof="0" dirty="0">
              <a:solidFill>
                <a:srgbClr val="2D2D2D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" y="4126549"/>
            <a:ext cx="4572000" cy="1536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Outils 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D04694-68B0-8BAA-AA97-D256F1201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8</a:t>
            </a:fld>
            <a:endParaRPr lang="fr-FR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40025"/>
              </p:ext>
            </p:extLst>
          </p:nvPr>
        </p:nvGraphicFramePr>
        <p:xfrm>
          <a:off x="731520" y="1271016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requires_grad</a:t>
                      </a:r>
                      <a:r>
                        <a:rPr lang="fr-FR" noProof="0" dirty="0"/>
                        <a:t>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model.eval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BatchNorm</a:t>
                      </a:r>
                      <a:r>
                        <a:rPr lang="fr-FR" noProof="0" dirty="0"/>
                        <a:t>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model.fc</a:t>
                      </a:r>
                      <a:r>
                        <a:rPr lang="fr-FR" noProof="0" dirty="0"/>
                        <a:t> = </a:t>
                      </a:r>
                      <a:r>
                        <a:rPr lang="fr-FR" noProof="0" dirty="0" err="1"/>
                        <a:t>nn.Identity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torch.no_grad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342900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98932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Features</a:t>
            </a:r>
            <a:r>
              <a:rPr lang="fr-FR" sz="1100" b="0" noProof="0" dirty="0">
                <a:solidFill>
                  <a:srgbClr val="6B6B6B"/>
                </a:solidFill>
              </a:rPr>
              <a:t>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54964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Device</a:t>
            </a:r>
            <a:endParaRPr lang="fr-FR" sz="1100" b="0" noProof="0" dirty="0">
              <a:solidFill>
                <a:srgbClr val="6B6B6B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DC132148-A8B0-46DE-A5D2-E78E0D0CA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9</a:t>
            </a:fld>
            <a:endParaRPr lang="fr-FR" noProof="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61C684C-2CE5-A073-7355-7F7A674EAE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577" y="4672583"/>
            <a:ext cx="3883886" cy="152515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1085DA35-3F45-7F36-BAF8-A72902764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840" y="4672584"/>
            <a:ext cx="7284720" cy="15910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Features</a:t>
            </a:r>
            <a:r>
              <a:rPr lang="fr-FR" sz="1100" b="0" noProof="0" dirty="0">
                <a:solidFill>
                  <a:srgbClr val="6B6B6B"/>
                </a:solidFill>
              </a:rPr>
              <a:t>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048273"/>
              </p:ext>
            </p:extLst>
          </p:nvPr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246389" y="289809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070" y="3429000"/>
            <a:ext cx="6174557" cy="260359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B92AD452-6255-04B3-A4CC-B1638DD1E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10</a:t>
            </a:fld>
            <a:endParaRPr lang="fr-FR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77147" y="238944"/>
            <a:ext cx="616135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28453" y="381786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De la haute dimension aux pseudo-labels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PCA, t-SNE, K-Means, DBSCAN — labellisation faible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DAB993-6500-80F2-C27C-CF439F077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11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E8878E-47D3-7600-386F-C66B23FAF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75" y="1623108"/>
            <a:ext cx="11782878" cy="48531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Réduction de dimension (PCA &amp; t-SNE)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Standardisation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StandardScaler</a:t>
            </a:r>
            <a:r>
              <a:rPr lang="fr-FR" sz="1300" b="0" noProof="0" dirty="0">
                <a:solidFill>
                  <a:srgbClr val="2D2D2D"/>
                </a:solidFill>
              </a:rPr>
              <a:t> : </a:t>
            </a:r>
            <a:r>
              <a:rPr lang="fr-FR" sz="1300" b="0" noProof="0" dirty="0" err="1">
                <a:solidFill>
                  <a:srgbClr val="2D2D2D"/>
                </a:solidFill>
              </a:rPr>
              <a:t>mean</a:t>
            </a:r>
            <a:r>
              <a:rPr lang="fr-FR" sz="1300" b="0" noProof="0" dirty="0">
                <a:solidFill>
                  <a:srgbClr val="2D2D2D"/>
                </a:solidFill>
              </a:rPr>
              <a:t>=0, std=1 sur 2 048 </a:t>
            </a:r>
            <a:r>
              <a:rPr lang="fr-FR" sz="1300" b="0" noProof="0" dirty="0" err="1">
                <a:solidFill>
                  <a:srgbClr val="2D2D2D"/>
                </a:solidFill>
              </a:rPr>
              <a:t>features</a:t>
            </a:r>
            <a:endParaRPr lang="fr-FR" sz="1300" b="0" noProof="0" dirty="0">
              <a:solidFill>
                <a:srgbClr val="2D2D2D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Nécessaire avant PCA et calcul de distances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PCA — Variance expliquée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100 composantes → 58 %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50 composantes → 46 %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90 % non atteint avec 100 composantes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→ Information très distribuée (ResNet50 = </a:t>
            </a:r>
            <a:r>
              <a:rPr lang="fr-FR" sz="1300" b="0" noProof="0" dirty="0" err="1">
                <a:solidFill>
                  <a:srgbClr val="2D2D2D"/>
                </a:solidFill>
              </a:rPr>
              <a:t>ImageNet</a:t>
            </a:r>
            <a:r>
              <a:rPr lang="fr-FR" sz="1300" b="0" noProof="0" dirty="0">
                <a:solidFill>
                  <a:srgbClr val="2D2D2D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680699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4772139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2 048→50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664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Réduction PCA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40" y="4680699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3200400" y="4772139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53664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Variance (50D)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3935" y="1304725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Workflow de </a:t>
            </a:r>
            <a:r>
              <a:rPr lang="fr-FR" sz="1500" b="1" noProof="0" dirty="0" err="1">
                <a:solidFill>
                  <a:srgbClr val="1B3A5C"/>
                </a:solidFill>
              </a:rPr>
              <a:t>reduction</a:t>
            </a:r>
            <a:r>
              <a:rPr lang="fr-FR" sz="1500" b="1" noProof="0" dirty="0">
                <a:solidFill>
                  <a:srgbClr val="1B3A5C"/>
                </a:solidFill>
              </a:rPr>
              <a:t> et visualisation</a:t>
            </a:r>
          </a:p>
        </p:txBody>
      </p:sp>
      <p:pic>
        <p:nvPicPr>
          <p:cNvPr id="16" name="Picture 15" descr="etape3_diagramme_activite_reduction_dimension_pca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04169"/>
            <a:ext cx="5699760" cy="413351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1" name="Picture 20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2" name="Picture 21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6328D31B-FA3F-4ED0-1148-CF99F2E7D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12</a:t>
            </a:fld>
            <a:endParaRPr lang="fr-FR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Clustering &amp; Pseudo-labellisation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18209"/>
              </p:ext>
            </p:extLst>
          </p:nvPr>
        </p:nvGraphicFramePr>
        <p:xfrm>
          <a:off x="457200" y="1405128"/>
          <a:ext cx="1124712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Méthode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Clusters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ARI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K-Means (k=2)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582 / 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0.1538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Alignement modéré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DBSCAN (50D)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+ bruit (41%)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Inadapté en 50D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663952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Mapping (vote majoritaire sur 100 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Cluster 0 → cancer (22 cancer vs 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Cluster 1 → normal (48 normal vs 28 cancer)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5980" y="246165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Pseudo-labellisation séparée</a:t>
            </a:r>
          </a:p>
        </p:txBody>
      </p:sp>
      <p:pic>
        <p:nvPicPr>
          <p:cNvPr id="10" name="Picture 9" descr="etape3_diagramme_activite_labellisation_faible_sep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600" y="2827410"/>
            <a:ext cx="4089400" cy="359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1684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5400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0.1538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ARI K-Means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716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281432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432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Pseudo-labellisées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748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537464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464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assignées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ECA3108E-76EF-ECA1-5973-66D59E2BC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13</a:t>
            </a:fld>
            <a:endParaRPr lang="fr-FR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24460" y="145288"/>
            <a:ext cx="70815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4 — SEMI-SUPERVISÉ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5980" y="118872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Du clustering au CNN fine-</a:t>
            </a:r>
            <a:r>
              <a:rPr lang="fr-FR" sz="2400" b="0" noProof="0" dirty="0" err="1">
                <a:solidFill>
                  <a:srgbClr val="FFFFFF"/>
                </a:solidFill>
              </a:rPr>
              <a:t>tuné</a:t>
            </a:r>
            <a:endParaRPr lang="fr-FR" sz="2400" b="0" noProof="0" dirty="0">
              <a:solidFill>
                <a:srgbClr val="FFFFFF"/>
              </a:solidFill>
            </a:endParaRP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Supervisé pur vs semi-supervisé — comparaison rigoureuse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087D9-669F-2A5A-3179-D25E4738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14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C213EB-7543-9D9D-C1FC-0A8C48487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263396"/>
            <a:ext cx="10833101" cy="519727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Méthodologie semi-supervisée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Architecture CNN (fine-tuning ResNet50)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layer4 + </a:t>
            </a:r>
            <a:r>
              <a:rPr lang="fr-FR" sz="1300" b="0" noProof="0" dirty="0" err="1">
                <a:solidFill>
                  <a:srgbClr val="2D2D2D"/>
                </a:solidFill>
              </a:rPr>
              <a:t>fc</a:t>
            </a:r>
            <a:r>
              <a:rPr lang="fr-FR" sz="1300" b="0" noProof="0" dirty="0">
                <a:solidFill>
                  <a:srgbClr val="2D2D2D"/>
                </a:solidFill>
              </a:rPr>
              <a:t> dégelés → 14,9M / 23,5M params entraînables (63,7 %)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fc</a:t>
            </a:r>
            <a:r>
              <a:rPr lang="fr-FR" sz="1300" b="0" noProof="0" dirty="0">
                <a:solidFill>
                  <a:srgbClr val="2D2D2D"/>
                </a:solidFill>
              </a:rPr>
              <a:t> remplacé par Linear(2048, 2) — classification binaire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CrossEntropyLoss</a:t>
            </a:r>
            <a:r>
              <a:rPr lang="fr-FR" sz="1300" b="0" noProof="0" dirty="0">
                <a:solidFill>
                  <a:srgbClr val="2D2D2D"/>
                </a:solidFill>
              </a:rPr>
              <a:t> + Adam (</a:t>
            </a:r>
            <a:r>
              <a:rPr lang="fr-FR" sz="1300" b="0" noProof="0" dirty="0" err="1">
                <a:solidFill>
                  <a:srgbClr val="2D2D2D"/>
                </a:solidFill>
              </a:rPr>
              <a:t>lr</a:t>
            </a:r>
            <a:r>
              <a:rPr lang="fr-FR" sz="1300" b="0" noProof="0" dirty="0">
                <a:solidFill>
                  <a:srgbClr val="2D2D2D"/>
                </a:solidFill>
              </a:rPr>
              <a:t>=1e-4) — 10 époques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Protocole </a:t>
            </a:r>
            <a:r>
              <a:rPr lang="fr-FR" sz="1600" b="1" noProof="0" dirty="0" err="1">
                <a:solidFill>
                  <a:srgbClr val="1B3A5C"/>
                </a:solidFill>
              </a:rPr>
              <a:t>anti-fuite</a:t>
            </a:r>
            <a:endParaRPr lang="fr-FR" sz="1600" b="1" noProof="0" dirty="0">
              <a:solidFill>
                <a:srgbClr val="1B3A5C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Re-fit</a:t>
            </a:r>
            <a:r>
              <a:rPr lang="fr-FR" sz="1300" b="0" noProof="0" dirty="0">
                <a:solidFill>
                  <a:srgbClr val="2D2D2D"/>
                </a:solidFill>
              </a:rPr>
              <a:t> </a:t>
            </a:r>
            <a:r>
              <a:rPr lang="fr-FR" sz="1300" b="0" noProof="0" dirty="0" err="1">
                <a:solidFill>
                  <a:srgbClr val="2D2D2D"/>
                </a:solidFill>
              </a:rPr>
              <a:t>KMeans</a:t>
            </a:r>
            <a:r>
              <a:rPr lang="fr-FR" sz="1300" b="0" noProof="0" dirty="0">
                <a:solidFill>
                  <a:srgbClr val="2D2D2D"/>
                </a:solidFill>
              </a:rPr>
              <a:t> sur 1 486 images (hors test)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Mapping cluster → classe sur les 64 images train uniquement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Test set jamais exposé au clustering ni au mapping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Split des données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64 labellisées → train (32 cancer + 32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20 labellisées → test (10 cancer + 10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1 406 pseudo-labellisées → entraînement modèle 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16 restantes → non utilisées (trop proches test)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65379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63,7 %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Params entraînables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2811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re-clustering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65379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64+1406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Train (B)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92811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Test (isolé)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8BEAFF56-48FA-DBC5-A6D7-06D634D5F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15</a:t>
            </a:fld>
            <a:endParaRPr lang="fr-FR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Résultats &amp; Bilan final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662667"/>
              </p:ext>
            </p:extLst>
          </p:nvPr>
        </p:nvGraphicFramePr>
        <p:xfrm>
          <a:off x="457200" y="1480262"/>
          <a:ext cx="111252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Modèle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F1 (macro)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Accuracy</a:t>
                      </a:r>
                      <a:endParaRPr lang="fr-FR" noProof="0" dirty="0"/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Recall</a:t>
                      </a:r>
                      <a:r>
                        <a:rPr lang="fr-FR" noProof="0" dirty="0"/>
                        <a:t>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Précision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 — Supervisé pur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B — Semi-supervisé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0.70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Δ (B − 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+10 %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Recall</a:t>
            </a:r>
            <a:r>
              <a:rPr lang="fr-FR" sz="1100" b="0" noProof="0" dirty="0">
                <a:solidFill>
                  <a:srgbClr val="6B6B6B"/>
                </a:solidFill>
              </a:rPr>
              <a:t> cancer (B &gt; 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342900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F1 semi-supervisé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98932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Pseudo-labels utilisés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54964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5 000 €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Budget passage échelle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E5508A47-01E1-47D1-50DA-93CA58EF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16</a:t>
            </a:fld>
            <a:endParaRPr lang="fr-FR" noProof="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648F202C-0ED1-918F-3524-9ACAA51660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03750"/>
            <a:ext cx="11341100" cy="212339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" y="13284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Bilan du projet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L'approche semi-supervisée apporte un gain mesurable (+10% </a:t>
            </a:r>
            <a:r>
              <a:rPr lang="fr-FR" sz="1300" b="0" noProof="0" dirty="0" err="1">
                <a:solidFill>
                  <a:srgbClr val="2D2D2D"/>
                </a:solidFill>
              </a:rPr>
              <a:t>recall</a:t>
            </a:r>
            <a:r>
              <a:rPr lang="fr-FR" sz="1300" b="0" noProof="0" dirty="0">
                <a:solidFill>
                  <a:srgbClr val="2D2D2D"/>
                </a:solidFill>
              </a:rPr>
              <a:t> cancer)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Pipeline complet validé : preprocessing → </a:t>
            </a:r>
            <a:r>
              <a:rPr lang="fr-FR" sz="1300" b="0" noProof="0" dirty="0" err="1">
                <a:solidFill>
                  <a:srgbClr val="2D2D2D"/>
                </a:solidFill>
              </a:rPr>
              <a:t>features</a:t>
            </a:r>
            <a:r>
              <a:rPr lang="fr-FR" sz="1300" b="0" noProof="0" dirty="0">
                <a:solidFill>
                  <a:srgbClr val="2D2D2D"/>
                </a:solidFill>
              </a:rPr>
              <a:t> → clustering → fine-tuning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Passage à l'échelle faisable : inférence + active </a:t>
            </a:r>
            <a:r>
              <a:rPr lang="fr-FR" sz="1300" b="0" noProof="0" dirty="0" err="1">
                <a:solidFill>
                  <a:srgbClr val="2D2D2D"/>
                </a:solidFill>
              </a:rPr>
              <a:t>learning</a:t>
            </a:r>
            <a:r>
              <a:rPr lang="fr-FR" sz="1300" b="0" noProof="0" dirty="0">
                <a:solidFill>
                  <a:srgbClr val="2D2D2D"/>
                </a:solidFill>
              </a:rPr>
              <a:t> itératif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84416" y="13106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Limites &amp; Recommandations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Jeu test de 20 images — résultats exploratoires, pas cliniques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Recommandation : collecte de labels supplémentaires via active </a:t>
            </a:r>
            <a:r>
              <a:rPr lang="fr-FR" sz="1300" b="0" noProof="0" dirty="0" err="1">
                <a:solidFill>
                  <a:srgbClr val="2D2D2D"/>
                </a:solidFill>
              </a:rPr>
              <a:t>learning</a:t>
            </a:r>
            <a:endParaRPr lang="fr-FR" sz="1300" b="0" noProof="0" dirty="0">
              <a:solidFill>
                <a:srgbClr val="2D2D2D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Perspective : validation sur un jeu externe et collaboration radiologues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BA3F79DB-949F-6AF0-A68D-07BB4EE35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17</a:t>
            </a:fld>
            <a:endParaRPr lang="fr-FR" noProof="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67A9298-AE6A-3ADA-56F9-C446F7F277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76" y="3214142"/>
            <a:ext cx="11458448" cy="3139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1194</Words>
  <Application>Microsoft Office PowerPoint</Application>
  <PresentationFormat>Widescreen</PresentationFormat>
  <Paragraphs>312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10 — Approches semi-supervisées en traitement d'images</dc:title>
  <dc:subject>OpenClassrooms — Data Scientist</dc:subject>
  <dc:creator>David MEDRAGH</dc:creator>
  <cp:keywords/>
  <dc:description/>
  <cp:lastModifiedBy>David MEDRAGH</cp:lastModifiedBy>
  <cp:revision>16</cp:revision>
  <dcterms:created xsi:type="dcterms:W3CDTF">2026-05-16T00:00:00Z</dcterms:created>
  <dcterms:modified xsi:type="dcterms:W3CDTF">2026-05-16T22:03:37Z</dcterms:modified>
  <cp:category/>
</cp:coreProperties>
</file>