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73" r:id="rId8"/>
    <p:sldId id="262" r:id="rId9"/>
    <p:sldId id="263" r:id="rId10"/>
    <p:sldId id="264" r:id="rId11"/>
    <p:sldId id="265" r:id="rId12"/>
    <p:sldId id="274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3B53F2-7FA7-436F-8229-0D008C4FD363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0516B2-C667-4902-95CF-C182F91226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7182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40E80E-77DB-4511-B69F-06BFE92A7E12}" type="datetime1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1B302-AD67-4FF4-9D5C-273956DEFE4D}" type="datetime1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C3DAD-678E-48D0-9BB5-68C46B79EDE9}" type="datetime1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E9C37-E54A-4833-804E-4A31CEDC4B0D}" type="datetime1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FB78F-F6D6-45EA-8223-53E6F1F1793E}" type="datetime1">
              <a:rPr lang="en-US" smtClean="0"/>
              <a:t>5/20/2026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6185CA-B99C-42EF-9740-A37A42AABF8B}" type="datetime1">
              <a:rPr lang="en-US" smtClean="0"/>
              <a:t>5/20/2026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0D1BA4-00C1-4D52-BF55-D50B7D2D2B10}" type="datetime1">
              <a:rPr lang="en-US" smtClean="0"/>
              <a:t>5/20/2026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8D0B7-7ACE-4CC9-B7B5-3659922514AB}" type="datetime1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C3DC9-D830-420A-9B27-76B167C5CEC3}" type="datetime1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EA74E5-772F-44D8-B685-42164DF99766}" type="datetime1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64DF5-B8A7-408C-A300-D929C9D8503C}" type="datetime1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10ACAE-F4DB-474F-B811-0361DEEAF1DA}" type="datetime1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58400" y="6494373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325755" y="163068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4400" b="1" noProof="0" dirty="0">
                <a:solidFill>
                  <a:srgbClr val="FFFFFF"/>
                </a:solidFill>
              </a:rPr>
              <a:t>ANALYSE D'IRM CÉRÉBRALES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4400" b="1" noProof="0" dirty="0">
                <a:solidFill>
                  <a:srgbClr val="D4A03C"/>
                </a:solidFill>
              </a:rPr>
              <a:t>APPROCHES SEMI-SUPERVISÉES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81734"/>
            <a:ext cx="2743200" cy="3810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325755" y="1903857"/>
            <a:ext cx="9144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000" b="0" noProof="0" dirty="0">
                <a:solidFill>
                  <a:srgbClr val="BBBBBB"/>
                </a:solidFill>
              </a:rPr>
              <a:t>Projet </a:t>
            </a:r>
            <a:r>
              <a:rPr lang="fr-FR" sz="2000" b="0" noProof="0" dirty="0" err="1">
                <a:solidFill>
                  <a:srgbClr val="BBBBBB"/>
                </a:solidFill>
              </a:rPr>
              <a:t>BrainScanAI</a:t>
            </a:r>
            <a:r>
              <a:rPr lang="fr-FR" sz="2000" b="0" noProof="0" dirty="0">
                <a:solidFill>
                  <a:srgbClr val="BBBBBB"/>
                </a:solidFill>
              </a:rPr>
              <a:t> — </a:t>
            </a:r>
            <a:r>
              <a:rPr lang="fr-FR" sz="2000" b="0" noProof="0" dirty="0" err="1">
                <a:solidFill>
                  <a:srgbClr val="BBBBBB"/>
                </a:solidFill>
              </a:rPr>
              <a:t>CurelyticsIA</a:t>
            </a:r>
            <a:endParaRPr lang="fr-FR" sz="2000" b="0" noProof="0" dirty="0">
              <a:solidFill>
                <a:srgbClr val="BBBBBB"/>
              </a:solidFill>
            </a:endParaRP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500" b="0" noProof="0" dirty="0">
                <a:solidFill>
                  <a:srgbClr val="888888"/>
                </a:solidFill>
              </a:rPr>
              <a:t>Exploration, extraction de </a:t>
            </a:r>
            <a:r>
              <a:rPr lang="fr-FR" sz="1500" b="0" noProof="0" dirty="0" err="1">
                <a:solidFill>
                  <a:srgbClr val="888888"/>
                </a:solidFill>
              </a:rPr>
              <a:t>features</a:t>
            </a:r>
            <a:r>
              <a:rPr lang="fr-FR" sz="1500" b="0" noProof="0" dirty="0">
                <a:solidFill>
                  <a:srgbClr val="888888"/>
                </a:solidFill>
              </a:rPr>
              <a:t>, clustering et semi-supervisé-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78781" y="1574292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1800" b="1" noProof="0" dirty="0">
                <a:solidFill>
                  <a:srgbClr val="FFFFFF"/>
                </a:solidFill>
              </a:rPr>
              <a:t>David MEDRAGH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lang="fr-FR" sz="1400" b="0" noProof="0" dirty="0">
                <a:solidFill>
                  <a:srgbClr val="888888"/>
                </a:solidFill>
              </a:rPr>
              <a:t>Data </a:t>
            </a:r>
            <a:r>
              <a:rPr lang="fr-FR" sz="1400" b="0" noProof="0" dirty="0" err="1">
                <a:solidFill>
                  <a:srgbClr val="888888"/>
                </a:solidFill>
              </a:rPr>
              <a:t>Scientist</a:t>
            </a:r>
            <a:r>
              <a:rPr lang="fr-FR" sz="1400" b="0" noProof="0" dirty="0">
                <a:solidFill>
                  <a:srgbClr val="888888"/>
                </a:solidFill>
              </a:rPr>
              <a:t> — </a:t>
            </a:r>
            <a:r>
              <a:rPr lang="fr-FR" sz="1400" b="0" noProof="0" dirty="0" err="1">
                <a:solidFill>
                  <a:srgbClr val="888888"/>
                </a:solidFill>
              </a:rPr>
              <a:t>CurelyticsIA</a:t>
            </a:r>
            <a:endParaRPr lang="fr-FR" sz="1400" b="0" noProof="0" dirty="0">
              <a:solidFill>
                <a:srgbClr val="888888"/>
              </a:solidFill>
            </a:endParaRP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lang="fr-FR" sz="1200" b="0" noProof="0" dirty="0">
                <a:solidFill>
                  <a:srgbClr val="666666"/>
                </a:solidFill>
              </a:rPr>
              <a:t>Mai 2026</a:t>
            </a:r>
          </a:p>
        </p:txBody>
      </p:sp>
      <p:pic>
        <p:nvPicPr>
          <p:cNvPr id="9" name="Picture 8" descr="logo_Curelytics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885" y="316230"/>
            <a:ext cx="710432" cy="548640"/>
          </a:xfrm>
          <a:prstGeom prst="rect">
            <a:avLst/>
          </a:prstGeom>
        </p:spPr>
      </p:pic>
      <p:pic>
        <p:nvPicPr>
          <p:cNvPr id="10" name="Picture 9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17605" y="316230"/>
            <a:ext cx="548640" cy="54864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D2FF246-E2DD-A6E5-A4DD-7C1E8CE2DC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639" y="2929890"/>
            <a:ext cx="11710606" cy="3649980"/>
          </a:xfrm>
          <a:prstGeom prst="rect">
            <a:avLst/>
          </a:prstGeom>
        </p:spPr>
      </p:pic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6138A9DD-A499-A30B-AFAC-075A11A64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1</a:t>
            </a:fld>
            <a:endParaRPr lang="fr-FR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3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9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5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8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4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7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/>
      <p:bldP spid="6" grpId="0" animBg="1"/>
      <p:bldP spid="7" grpId="0"/>
      <p:bldP spid="8" grpId="0"/>
      <p:bldP spid="13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Sommaire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07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1800" b="1" noProof="0" dirty="0">
                <a:solidFill>
                  <a:srgbClr val="D4A03C"/>
                </a:solidFill>
              </a:rPr>
              <a:t>Étape 1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lang="fr-FR" sz="1200" b="0" noProof="0" dirty="0">
                <a:solidFill>
                  <a:srgbClr val="6B6B6B"/>
                </a:solidFill>
              </a:rPr>
              <a:t>Exploration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30552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2D2D2D"/>
                </a:solidFill>
              </a:rPr>
              <a:t>▸  Contexte &amp; Dataset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2D2D2D"/>
                </a:solidFill>
              </a:rPr>
              <a:t>▸  Vérification technique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2D2D2D"/>
                </a:solidFill>
              </a:rPr>
              <a:t>▸  Échantillon visuel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307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1800" b="1" noProof="0" dirty="0">
                <a:solidFill>
                  <a:srgbClr val="D4A03C"/>
                </a:solidFill>
              </a:rPr>
              <a:t>Étape 2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lang="fr-FR" sz="1200" b="0" noProof="0" dirty="0" err="1">
                <a:solidFill>
                  <a:srgbClr val="6B6B6B"/>
                </a:solidFill>
              </a:rPr>
              <a:t>Features</a:t>
            </a:r>
            <a:endParaRPr lang="fr-FR" sz="1200" b="0" noProof="0" dirty="0">
              <a:solidFill>
                <a:srgbClr val="6B6B6B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566160" y="2130552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2D2D2D"/>
                </a:solidFill>
              </a:rPr>
              <a:t>▸  Pipeline preprocessing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2D2D2D"/>
                </a:solidFill>
              </a:rPr>
              <a:t>▸  Modèle ResNet50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2D2D2D"/>
                </a:solidFill>
              </a:rPr>
              <a:t>▸  Résultats extraction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307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1800" b="1" noProof="0" dirty="0">
                <a:solidFill>
                  <a:srgbClr val="D4A03C"/>
                </a:solidFill>
              </a:rPr>
              <a:t>Étape 3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lang="fr-FR" sz="1200" b="0" noProof="0" dirty="0">
                <a:solidFill>
                  <a:srgbClr val="6B6B6B"/>
                </a:solidFill>
              </a:rPr>
              <a:t>Clustering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130552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2D2D2D"/>
                </a:solidFill>
              </a:rPr>
              <a:t>▸  Réduction PCA / t-SNE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2D2D2D"/>
                </a:solidFill>
              </a:rPr>
              <a:t>▸  K-Means &amp; DBSCAN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2D2D2D"/>
                </a:solidFill>
              </a:rPr>
              <a:t>▸  Score ARI &amp; pseudo-labels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1307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1800" b="1" noProof="0" dirty="0">
                <a:solidFill>
                  <a:srgbClr val="D4A03C"/>
                </a:solidFill>
              </a:rPr>
              <a:t>Étape 4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lang="fr-FR" sz="1200" b="0" noProof="0" dirty="0">
                <a:solidFill>
                  <a:srgbClr val="6B6B6B"/>
                </a:solidFill>
              </a:rPr>
              <a:t>Semi-supervisé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2130552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2D2D2D"/>
                </a:solidFill>
              </a:rPr>
              <a:t>▸  CNN fine-</a:t>
            </a:r>
            <a:r>
              <a:rPr lang="fr-FR" sz="1100" b="0" noProof="0" dirty="0" err="1">
                <a:solidFill>
                  <a:srgbClr val="2D2D2D"/>
                </a:solidFill>
              </a:rPr>
              <a:t>tuné</a:t>
            </a:r>
            <a:r>
              <a:rPr lang="fr-FR" sz="1100" b="0" noProof="0" dirty="0">
                <a:solidFill>
                  <a:srgbClr val="2D2D2D"/>
                </a:solidFill>
              </a:rPr>
              <a:t> (ResNet50)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2D2D2D"/>
                </a:solidFill>
              </a:rPr>
              <a:t>▸  Supervisé vs Semi-supervisé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2D2D2D"/>
                </a:solidFill>
              </a:rPr>
              <a:t>▸  Résultats &amp; Bilan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17" name="Picture 16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8" name="Picture 17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9B23B45-A55C-4DF6-602F-6B7C384700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" y="3127248"/>
            <a:ext cx="11777472" cy="3209544"/>
          </a:xfrm>
          <a:prstGeom prst="rect">
            <a:avLst/>
          </a:prstGeom>
        </p:spPr>
      </p:pic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B9F9CB96-8F5E-62D7-8AC4-357B262D6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2</a:t>
            </a:fld>
            <a:endParaRPr lang="fr-FR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 animBg="1"/>
      <p:bldP spid="14" grpId="0"/>
      <p:bldP spid="15" grpId="0"/>
      <p:bldP spid="16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365759" y="232808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4400" b="1" noProof="0" dirty="0">
                <a:solidFill>
                  <a:srgbClr val="D4A03C"/>
                </a:solidFill>
              </a:rPr>
              <a:t>ÉTAPE 1 — EXPLORATION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59" y="465392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400" b="0" noProof="0" dirty="0">
                <a:solidFill>
                  <a:srgbClr val="FFFFFF"/>
                </a:solidFill>
              </a:rPr>
              <a:t>Contexte, </a:t>
            </a:r>
            <a:r>
              <a:rPr lang="fr-FR" sz="2400" b="0" noProof="0" dirty="0" err="1">
                <a:solidFill>
                  <a:srgbClr val="FFFFFF"/>
                </a:solidFill>
              </a:rPr>
              <a:t>dataset</a:t>
            </a:r>
            <a:r>
              <a:rPr lang="fr-FR" sz="2400" b="0" noProof="0" dirty="0">
                <a:solidFill>
                  <a:srgbClr val="FFFFFF"/>
                </a:solidFill>
              </a:rPr>
              <a:t> et vérification technique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lang="fr-FR" sz="1400" b="0" noProof="0" dirty="0">
                <a:solidFill>
                  <a:srgbClr val="888888"/>
                </a:solidFill>
              </a:rPr>
              <a:t>Inventaire complet, contrôle qualité et écarts documentés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09A389-9F05-9591-F0F4-726785684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3</a:t>
            </a:fld>
            <a:endParaRPr lang="fr-FR" noProof="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753BE6F-13A9-75D8-E11B-BB6E38D4ED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278" y="1790319"/>
            <a:ext cx="11375137" cy="447146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/>
      <p:bldP spid="5" grpId="0"/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600" b="1" noProof="0" dirty="0">
                <a:solidFill>
                  <a:srgbClr val="D4A03C"/>
                </a:solidFill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Contexte &amp; Dataset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7608" y="1362778"/>
            <a:ext cx="5029200" cy="12798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 err="1">
                <a:solidFill>
                  <a:srgbClr val="1B3A5C"/>
                </a:solidFill>
              </a:rPr>
              <a:t>CurelyticsIA</a:t>
            </a:r>
            <a:endParaRPr lang="fr-FR" sz="1600" b="1" noProof="0" dirty="0">
              <a:solidFill>
                <a:srgbClr val="1B3A5C"/>
              </a:solidFill>
            </a:endParaRP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400" b="0" noProof="0" dirty="0">
                <a:solidFill>
                  <a:srgbClr val="2D2D2D"/>
                </a:solidFill>
              </a:rPr>
              <a:t>▸  Startup e-santé — analyse d'images médicales par IA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400" b="0" noProof="0" dirty="0">
                <a:solidFill>
                  <a:srgbClr val="2D2D2D"/>
                </a:solidFill>
              </a:rPr>
              <a:t>▸  Projet R&amp;D </a:t>
            </a:r>
            <a:r>
              <a:rPr lang="fr-FR" sz="1400" b="0" noProof="0" dirty="0" err="1">
                <a:solidFill>
                  <a:srgbClr val="2D2D2D"/>
                </a:solidFill>
              </a:rPr>
              <a:t>BrainScanAI</a:t>
            </a:r>
            <a:r>
              <a:rPr lang="fr-FR" sz="1400" b="0" noProof="0" dirty="0">
                <a:solidFill>
                  <a:srgbClr val="2D2D2D"/>
                </a:solidFill>
              </a:rPr>
              <a:t> : détection de tumeurs cérébrales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400" b="0" noProof="0" dirty="0">
                <a:solidFill>
                  <a:srgbClr val="2D2D2D"/>
                </a:solidFill>
              </a:rPr>
              <a:t>▸  Dataset d'IRM collecté auprès de radiologues experts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753" y="5431536"/>
            <a:ext cx="2036927" cy="1002284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365913" y="5581406"/>
            <a:ext cx="1792496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D4A03C"/>
                </a:solidFill>
              </a:rPr>
              <a:t>1 506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913" y="6117336"/>
            <a:ext cx="179249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Images totales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55048" y="5431536"/>
            <a:ext cx="2036927" cy="1002284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2692208" y="5581406"/>
            <a:ext cx="1792496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27AE60"/>
                </a:solidFill>
              </a:rPr>
              <a:t>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2208" y="6117336"/>
            <a:ext cx="179249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Labellisées (6,6 %)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84416" y="1362778"/>
            <a:ext cx="5029200" cy="1233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Structure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▸  avec_labels/cancer/    →  50 IRM avec tumeurs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▸  avec_labels/normal/    →  50 IRM cerveaux sains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▸  sans_label/                 → 1 406 IRM non étiquetées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4000" y="2871216"/>
            <a:ext cx="2011680" cy="105156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6" name="TextBox 15"/>
          <p:cNvSpPr txBox="1"/>
          <p:nvPr/>
        </p:nvSpPr>
        <p:spPr>
          <a:xfrm>
            <a:off x="391160" y="2962656"/>
            <a:ext cx="1737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1B3A5C"/>
                </a:solidFill>
              </a:rPr>
              <a:t>512×512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1160" y="3557016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Résolution (px)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40000" y="2871216"/>
            <a:ext cx="2011680" cy="9601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9" name="TextBox 18"/>
          <p:cNvSpPr txBox="1"/>
          <p:nvPr/>
        </p:nvSpPr>
        <p:spPr>
          <a:xfrm>
            <a:off x="2677160" y="2962656"/>
            <a:ext cx="1737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3A7CBD"/>
                </a:solidFill>
              </a:rPr>
              <a:t>JPEG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77160" y="3557016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Format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4000" y="4242816"/>
            <a:ext cx="2011680" cy="1002284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2" name="TextBox 21"/>
          <p:cNvSpPr txBox="1"/>
          <p:nvPr/>
        </p:nvSpPr>
        <p:spPr>
          <a:xfrm>
            <a:off x="391160" y="4334256"/>
            <a:ext cx="1737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3A7CBD"/>
                </a:solidFill>
              </a:rPr>
              <a:t>RGB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1160" y="4928616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Mode couleur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40000" y="4242816"/>
            <a:ext cx="2011680" cy="1002284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5" name="TextBox 24"/>
          <p:cNvSpPr txBox="1"/>
          <p:nvPr/>
        </p:nvSpPr>
        <p:spPr>
          <a:xfrm>
            <a:off x="2677160" y="4334256"/>
            <a:ext cx="1737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E67E22"/>
                </a:solidFill>
              </a:rPr>
              <a:t>~6,6 %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77160" y="4928616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Labels disponibles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8" name="TextBox 2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31" name="Picture 30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32" name="Picture 31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sp>
        <p:nvSpPr>
          <p:cNvPr id="33" name="Slide Number Placeholder 32">
            <a:extLst>
              <a:ext uri="{FF2B5EF4-FFF2-40B4-BE49-F238E27FC236}">
                <a16:creationId xmlns:a16="http://schemas.microsoft.com/office/drawing/2014/main" id="{64A073E4-7FE5-04F1-9E29-C61B5773A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4</a:t>
            </a:fld>
            <a:endParaRPr lang="fr-FR" noProof="0" dirty="0"/>
          </a:p>
        </p:txBody>
      </p:sp>
      <p:pic>
        <p:nvPicPr>
          <p:cNvPr id="34" name="Picture 33" descr="logo_CurelyticsIA.png">
            <a:extLst>
              <a:ext uri="{FF2B5EF4-FFF2-40B4-BE49-F238E27FC236}">
                <a16:creationId xmlns:a16="http://schemas.microsoft.com/office/drawing/2014/main" id="{A9DA9929-7C06-4232-6D72-C3D51F1E5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0784" y="1426464"/>
            <a:ext cx="422024" cy="310896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D96E23ED-EE6D-9A2D-D6F7-26ADF5B5D3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3008" y="2806430"/>
            <a:ext cx="6517832" cy="344451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/>
      <p:bldP spid="5" grpId="0" animBg="1"/>
      <p:bldP spid="6" grpId="0"/>
      <p:bldP spid="7" grpId="0"/>
      <p:bldP spid="8" grpId="0" animBg="1"/>
      <p:bldP spid="9" grpId="0"/>
      <p:bldP spid="10" grpId="0"/>
      <p:bldP spid="11" grpId="0" animBg="1"/>
      <p:bldP spid="12" grpId="0"/>
      <p:bldP spid="13" grpId="0"/>
      <p:bldP spid="14" grpId="0"/>
      <p:bldP spid="15" grpId="0" animBg="1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  <p:bldP spid="26" grpId="0"/>
      <p:bldP spid="27" grpId="0" animBg="1"/>
      <p:bldP spid="28" grpId="0"/>
      <p:bldP spid="29" grpId="0"/>
      <p:bldP spid="30" grpId="0"/>
      <p:bldP spid="3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600" b="1" noProof="0" dirty="0">
                <a:solidFill>
                  <a:srgbClr val="D4A03C"/>
                </a:solidFill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Vérification technique &amp; Écarts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" y="1261872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Résultats du scan complet (1 506 images)</a:t>
            </a:r>
          </a:p>
          <a:p>
            <a:pPr>
              <a:spcBef>
                <a:spcPts val="600"/>
              </a:spcBef>
            </a:pPr>
            <a:r>
              <a:rPr lang="fr-FR" sz="1400" noProof="0" dirty="0">
                <a:solidFill>
                  <a:srgbClr val="27AE60"/>
                </a:solidFill>
              </a:rPr>
              <a:t>  ✓  Toutes les images lisibles — aucune corrompue</a:t>
            </a:r>
          </a:p>
          <a:p>
            <a:pPr>
              <a:spcBef>
                <a:spcPts val="600"/>
              </a:spcBef>
            </a:pPr>
            <a:r>
              <a:rPr lang="fr-FR" sz="1400" noProof="0" dirty="0">
                <a:solidFill>
                  <a:srgbClr val="27AE60"/>
                </a:solidFill>
              </a:rPr>
              <a:t>  ✓  Résolution homogène : 512×512</a:t>
            </a:r>
          </a:p>
          <a:p>
            <a:pPr>
              <a:spcBef>
                <a:spcPts val="600"/>
              </a:spcBef>
            </a:pPr>
            <a:r>
              <a:rPr lang="fr-FR" sz="1400" noProof="0" dirty="0">
                <a:solidFill>
                  <a:srgbClr val="27AE60"/>
                </a:solidFill>
              </a:rPr>
              <a:t>  ✓  Format uniformément JPEG</a:t>
            </a:r>
          </a:p>
          <a:p>
            <a:pPr>
              <a:spcBef>
                <a:spcPts val="600"/>
              </a:spcBef>
            </a:pPr>
            <a:r>
              <a:rPr lang="fr-FR" sz="1400" noProof="0" dirty="0">
                <a:solidFill>
                  <a:srgbClr val="27AE60"/>
                </a:solidFill>
              </a:rPr>
              <a:t>  ✓  Mode couleur uniformément RGB</a:t>
            </a:r>
          </a:p>
          <a:p>
            <a:pPr>
              <a:spcBef>
                <a:spcPts val="600"/>
              </a:spcBef>
            </a:pPr>
            <a:r>
              <a:rPr lang="fr-FR" sz="1400" noProof="0" dirty="0">
                <a:solidFill>
                  <a:srgbClr val="27AE60"/>
                </a:solidFill>
              </a:rPr>
              <a:t>  ✓  Aucun doublon entre les 3 dossiers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8814729"/>
              </p:ext>
            </p:extLst>
          </p:nvPr>
        </p:nvGraphicFramePr>
        <p:xfrm>
          <a:off x="154048" y="3957307"/>
          <a:ext cx="5230368" cy="1816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7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75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75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Critère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Énoncé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Réel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Commentaire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Format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PNG (courriel)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JPEG (.jpg)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Fichier descriptif confirme JPEG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Non étiquetées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1 400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1 406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+6 images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1 500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1 506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Écart cohérent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Métadonnées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Non mentionnées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Absentes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Dossiers = labels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0" y="3225787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1400" b="0" noProof="0" dirty="0">
                <a:solidFill>
                  <a:srgbClr val="6B6B6B"/>
                </a:solidFill>
              </a:rPr>
              <a:t>→  Écarts mineurs et documentés. Dataset propre, exploitable en l'état.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14" name="Picture 13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5" name="Picture 14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8B346982-24BB-2BE2-6561-B5A6056BC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5</a:t>
            </a:fld>
            <a:endParaRPr lang="fr-FR" noProof="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54159142-0DCA-21B4-13DF-BF35D2EAFF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9904" y="1274572"/>
            <a:ext cx="5948048" cy="51704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3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9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5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8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4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7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6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9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/>
      <p:bldP spid="5" grpId="0" animBg="1"/>
      <p:bldP spid="6" grpId="0"/>
      <p:bldP spid="7" grpId="0"/>
      <p:bldP spid="9" grpId="0"/>
      <p:bldP spid="10" grpId="0" animBg="1"/>
      <p:bldP spid="11" grpId="0"/>
      <p:bldP spid="12" grpId="0"/>
      <p:bldP spid="13" grpId="0"/>
      <p:bldP spid="1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600" b="1" noProof="0" dirty="0">
                <a:solidFill>
                  <a:srgbClr val="D4A03C"/>
                </a:solidFill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Échantillon visuel — 5 images par catégorie</a:t>
            </a:r>
          </a:p>
        </p:txBody>
      </p:sp>
      <p:pic>
        <p:nvPicPr>
          <p:cNvPr id="7" name="Picture 6" descr="echantillon_visuel_etap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3" y="1371600"/>
            <a:ext cx="11902821" cy="497205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12" name="Picture 11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3" name="Picture 12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298C78B0-C90F-EE5F-DC9D-8C475705B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6</a:t>
            </a:fld>
            <a:endParaRPr lang="fr-FR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xit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inVertical)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6" presetClass="exit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inVertical)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6" presetClass="exit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inVertical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6" presetClass="exit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inVertical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6" presetClass="exit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inVertical)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6" presetClass="exit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inVertical)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6" presetClass="exit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inVertical)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6" presetClass="exit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inVertical)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6" presetClass="exit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inVertical)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6" presetClass="exit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inVertical)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6" presetClass="exit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inVertical)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6" presetClass="exit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inVertical)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6" presetClass="exit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inVertical)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/>
      <p:bldP spid="5" grpId="0" animBg="1"/>
      <p:bldP spid="6" grpId="0"/>
      <p:bldP spid="8" grpId="0" animBg="1"/>
      <p:bldP spid="9" grpId="0"/>
      <p:bldP spid="10" grpId="0"/>
      <p:bldP spid="11" grpId="0"/>
      <p:bldP spid="1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52A7F-8447-DF63-588B-CD08037CE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874891F-5287-7CFD-B2E4-BFB2E9111140}"/>
              </a:ext>
            </a:extLst>
          </p:cNvPr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0D024A-456F-803F-F07B-520894B25977}"/>
              </a:ext>
            </a:extLst>
          </p:cNvPr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529A3-F50A-D2F2-9A97-E3CBFA6D5FEF}"/>
              </a:ext>
            </a:extLst>
          </p:cNvPr>
          <p:cNvSpPr txBox="1"/>
          <p:nvPr/>
        </p:nvSpPr>
        <p:spPr>
          <a:xfrm>
            <a:off x="457200" y="271194"/>
            <a:ext cx="73152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600" b="1" noProof="0" dirty="0">
                <a:solidFill>
                  <a:srgbClr val="D4A03C"/>
                </a:solidFill>
              </a:rPr>
              <a:t>04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5575F88-4125-9A1F-2A40-6C8BBC1C158A}"/>
              </a:ext>
            </a:extLst>
          </p:cNvPr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E58263-1BF8-078B-EC9C-D11F565A8A6A}"/>
              </a:ext>
            </a:extLst>
          </p:cNvPr>
          <p:cNvSpPr txBox="1"/>
          <p:nvPr/>
        </p:nvSpPr>
        <p:spPr>
          <a:xfrm>
            <a:off x="1463040" y="348139"/>
            <a:ext cx="9144000" cy="4924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Résumé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ADD04F-6279-F7D3-4111-EA7A46766C33}"/>
              </a:ext>
            </a:extLst>
          </p:cNvPr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23DCC1-0FFF-E071-2258-56325FD1BC2D}"/>
              </a:ext>
            </a:extLst>
          </p:cNvPr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6B7214-A306-100C-962B-D8C70B34A445}"/>
              </a:ext>
            </a:extLst>
          </p:cNvPr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9B7A80C-144B-E49E-9B2E-4BC38D1101C6}"/>
              </a:ext>
            </a:extLst>
          </p:cNvPr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12" name="Picture 11" descr="logo_openclassrooms.png">
            <a:extLst>
              <a:ext uri="{FF2B5EF4-FFF2-40B4-BE49-F238E27FC236}">
                <a16:creationId xmlns:a16="http://schemas.microsoft.com/office/drawing/2014/main" id="{DF05B892-4B81-1851-7A7D-BDB639C046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3" name="Picture 12" descr="logo_CurelyticsIA.png">
            <a:extLst>
              <a:ext uri="{FF2B5EF4-FFF2-40B4-BE49-F238E27FC236}">
                <a16:creationId xmlns:a16="http://schemas.microsoft.com/office/drawing/2014/main" id="{AE424067-7C63-1FAF-730A-ACE38CBF77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A1A6811E-A7B7-B598-1239-F4D0F6CF9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7</a:t>
            </a:fld>
            <a:endParaRPr lang="fr-FR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52671B8-ABE2-CD8F-5E3D-EACD5C38D958}"/>
              </a:ext>
            </a:extLst>
          </p:cNvPr>
          <p:cNvSpPr txBox="1"/>
          <p:nvPr/>
        </p:nvSpPr>
        <p:spPr>
          <a:xfrm>
            <a:off x="164568" y="1417320"/>
            <a:ext cx="8466322" cy="25391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q"/>
            </a:pPr>
            <a:r>
              <a:rPr lang="fr-FR" sz="1600" b="1" i="0" dirty="0" err="1">
                <a:effectLst/>
                <a:latin typeface="Segoe WPC"/>
              </a:rPr>
              <a:t>Dataset</a:t>
            </a:r>
            <a:r>
              <a:rPr lang="fr-FR" sz="1600" b="1" i="0" dirty="0">
                <a:effectLst/>
                <a:latin typeface="Segoe WPC"/>
              </a:rPr>
              <a:t> complet et propre</a:t>
            </a:r>
            <a:r>
              <a:rPr lang="fr-FR" sz="1600" b="0" i="0" dirty="0">
                <a:effectLst/>
                <a:latin typeface="Segoe WPC"/>
              </a:rPr>
              <a:t> : 1 506 IRM cérébrales scannées (50 cancer + 50 normal + 1 406 sans label), 0 image corrompue, résolution homogène 512×512, format JPEG, mode RGB</a:t>
            </a:r>
          </a:p>
          <a:p>
            <a:pPr marL="285750" indent="-285750" algn="l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q"/>
            </a:pPr>
            <a:r>
              <a:rPr lang="fr-FR" sz="1600" b="1" i="0" dirty="0">
                <a:effectLst/>
                <a:latin typeface="Segoe WPC"/>
              </a:rPr>
              <a:t>Déséquilibre fort</a:t>
            </a:r>
            <a:r>
              <a:rPr lang="fr-FR" sz="1600" b="0" i="0" dirty="0">
                <a:effectLst/>
                <a:latin typeface="Segoe WPC"/>
              </a:rPr>
              <a:t> : seulement 6,6 % d'images labellisées (100/1 506) — contexte qui justifie directement l'approche semi-supervisée des étapes 3 et 4</a:t>
            </a:r>
          </a:p>
          <a:p>
            <a:pPr marL="285750" indent="-285750" algn="l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q"/>
            </a:pPr>
            <a:r>
              <a:rPr lang="fr-FR" sz="1600" b="1" i="0" dirty="0">
                <a:effectLst/>
                <a:latin typeface="Segoe WPC"/>
              </a:rPr>
              <a:t>Contrôle qualité exhaustif</a:t>
            </a:r>
            <a:r>
              <a:rPr lang="fr-FR" sz="1600" b="0" i="0" dirty="0">
                <a:effectLst/>
                <a:latin typeface="Segoe WPC"/>
              </a:rPr>
              <a:t> : vérification image par image (lisibilité PIL, dimensions, mode couleur, doublons de noms) — aucune anomalie détectée</a:t>
            </a:r>
          </a:p>
          <a:p>
            <a:pPr marL="285750" indent="-285750" algn="l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q"/>
            </a:pPr>
            <a:r>
              <a:rPr lang="fr-FR" sz="1600" b="1" i="0" dirty="0">
                <a:effectLst/>
                <a:latin typeface="Segoe WPC"/>
              </a:rPr>
              <a:t>Visualisation</a:t>
            </a:r>
            <a:r>
              <a:rPr lang="fr-FR" sz="1600" b="0" i="0" dirty="0">
                <a:effectLst/>
                <a:latin typeface="Segoe WPC"/>
              </a:rPr>
              <a:t> : échantillon de 5 images par catégorie (cancer / normal / </a:t>
            </a:r>
            <a:r>
              <a:rPr lang="fr-FR" sz="1600" b="0" i="0" dirty="0" err="1">
                <a:effectLst/>
                <a:latin typeface="Segoe WPC"/>
              </a:rPr>
              <a:t>sans_label</a:t>
            </a:r>
            <a:r>
              <a:rPr lang="fr-FR" sz="1600" b="0" i="0" dirty="0">
                <a:effectLst/>
                <a:latin typeface="Segoe WPC"/>
              </a:rPr>
              <a:t>) pour valider visuellement la cohérence du corpus avant tout prétraitement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59979504-25CA-D1E9-AC09-E9C58F20A5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7118" y="1417320"/>
            <a:ext cx="3307330" cy="470766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C4C4D8C-6B90-73CD-DDF9-3D2609C590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7349" y="4554620"/>
            <a:ext cx="8483541" cy="1570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1274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4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4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/>
      <p:bldP spid="5" grpId="0" animBg="1"/>
      <p:bldP spid="6" grpId="0"/>
      <p:bldP spid="8" grpId="0" animBg="1"/>
      <p:bldP spid="9" grpId="0"/>
      <p:bldP spid="10" grpId="0"/>
      <p:bldP spid="11" grpId="0"/>
      <p:bldP spid="14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182880" y="1828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4400" b="1" noProof="0" dirty="0">
                <a:solidFill>
                  <a:srgbClr val="D4A03C"/>
                </a:solidFill>
              </a:rPr>
              <a:t>ÉTAPE 2 —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9355" y="272187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400" b="0" noProof="0" dirty="0">
                <a:solidFill>
                  <a:srgbClr val="FFFFFF"/>
                </a:solidFill>
              </a:rPr>
              <a:t>Des images brutes aux </a:t>
            </a:r>
            <a:r>
              <a:rPr lang="fr-FR" sz="2400" b="0" noProof="0" dirty="0" err="1">
                <a:solidFill>
                  <a:srgbClr val="FFFFFF"/>
                </a:solidFill>
              </a:rPr>
              <a:t>embeddings</a:t>
            </a:r>
            <a:r>
              <a:rPr lang="fr-FR" sz="2400" b="0" noProof="0" dirty="0">
                <a:solidFill>
                  <a:srgbClr val="FFFFFF"/>
                </a:solidFill>
              </a:rPr>
              <a:t> visuels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lang="fr-FR" sz="1400" b="0" noProof="0" dirty="0">
                <a:solidFill>
                  <a:srgbClr val="888888"/>
                </a:solidFill>
              </a:rPr>
              <a:t>Preprocessing officiel ResNet50 — 2 048 </a:t>
            </a:r>
            <a:r>
              <a:rPr lang="fr-FR" sz="1400" b="0" noProof="0" dirty="0" err="1">
                <a:solidFill>
                  <a:srgbClr val="888888"/>
                </a:solidFill>
              </a:rPr>
              <a:t>features</a:t>
            </a:r>
            <a:r>
              <a:rPr lang="fr-FR" sz="1400" b="0" noProof="0" dirty="0">
                <a:solidFill>
                  <a:srgbClr val="888888"/>
                </a:solidFill>
              </a:rPr>
              <a:t> par image</a:t>
            </a:r>
          </a:p>
        </p:txBody>
      </p:sp>
      <p:pic>
        <p:nvPicPr>
          <p:cNvPr id="6" name="Picture 5" descr="projet10_etape2_architecture_general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459" y="1375866"/>
            <a:ext cx="11534775" cy="5029200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65F1B3-6740-A6B9-653D-74F198209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8</a:t>
            </a:fld>
            <a:endParaRPr lang="fr-FR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26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9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30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1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32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3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34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5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36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37" presetID="26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45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46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47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48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49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50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1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52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53" presetID="26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61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62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63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64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65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66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67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68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69" presetID="26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1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77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78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79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80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81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82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83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84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85" presetID="26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9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9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9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9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9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9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9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10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/>
      <p:bldP spid="5" grpId="0"/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3F867ECF-2882-2843-93F2-FBCC242B56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3632" y="1240155"/>
            <a:ext cx="8311896" cy="5192167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271194"/>
            <a:ext cx="73152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600" b="1" noProof="0" dirty="0">
                <a:solidFill>
                  <a:srgbClr val="D4A03C"/>
                </a:solidFill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Pipeline de </a:t>
            </a:r>
            <a:r>
              <a:rPr lang="en-US" sz="2600" b="1" noProof="0" dirty="0">
                <a:solidFill>
                  <a:srgbClr val="FFFFFF"/>
                </a:solidFill>
              </a:rPr>
              <a:t>preprocessing</a:t>
            </a:r>
            <a:endParaRPr lang="fr-FR" sz="2600" b="1" noProof="0" dirty="0">
              <a:solidFill>
                <a:srgbClr val="FFFFFF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1440" y="1369695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Preprocessing officiel ResNet50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</a:t>
            </a:r>
            <a:r>
              <a:rPr lang="fr-FR" sz="1300" b="0" noProof="0" dirty="0" err="1">
                <a:solidFill>
                  <a:srgbClr val="2D2D2D"/>
                </a:solidFill>
              </a:rPr>
              <a:t>weights</a:t>
            </a:r>
            <a:r>
              <a:rPr lang="fr-FR" sz="1300" b="0" noProof="0" dirty="0">
                <a:solidFill>
                  <a:srgbClr val="2D2D2D"/>
                </a:solidFill>
              </a:rPr>
              <a:t> = ResNet50_Weights.DEFAULT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</a:t>
            </a:r>
            <a:r>
              <a:rPr lang="fr-FR" sz="1300" b="0" noProof="0" dirty="0" err="1">
                <a:solidFill>
                  <a:srgbClr val="2D2D2D"/>
                </a:solidFill>
              </a:rPr>
              <a:t>preprocess</a:t>
            </a:r>
            <a:r>
              <a:rPr lang="fr-FR" sz="1300" b="0" noProof="0" dirty="0">
                <a:solidFill>
                  <a:srgbClr val="2D2D2D"/>
                </a:solidFill>
              </a:rPr>
              <a:t> = </a:t>
            </a:r>
            <a:r>
              <a:rPr lang="fr-FR" sz="1300" b="0" noProof="0" dirty="0" err="1">
                <a:solidFill>
                  <a:srgbClr val="2D2D2D"/>
                </a:solidFill>
              </a:rPr>
              <a:t>weights.transforms</a:t>
            </a:r>
            <a:r>
              <a:rPr lang="fr-FR" sz="1300" b="0" noProof="0" dirty="0">
                <a:solidFill>
                  <a:srgbClr val="2D2D2D"/>
                </a:solidFill>
              </a:rPr>
              <a:t>()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Pipeline unique — pas de </a:t>
            </a:r>
            <a:r>
              <a:rPr lang="fr-FR" sz="1300" b="0" noProof="0" dirty="0" err="1">
                <a:solidFill>
                  <a:srgbClr val="2D2D2D"/>
                </a:solidFill>
              </a:rPr>
              <a:t>transforms</a:t>
            </a:r>
            <a:r>
              <a:rPr lang="fr-FR" sz="1300" b="0" noProof="0" dirty="0">
                <a:solidFill>
                  <a:srgbClr val="2D2D2D"/>
                </a:solidFill>
              </a:rPr>
              <a:t> parallèle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" y="257175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Dataset unifié et contrôle visuel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1 506 images dans un </a:t>
            </a:r>
            <a:r>
              <a:rPr lang="fr-FR" sz="1300" b="0" noProof="0" dirty="0" err="1">
                <a:solidFill>
                  <a:srgbClr val="2D2D2D"/>
                </a:solidFill>
              </a:rPr>
              <a:t>DataFrame</a:t>
            </a:r>
            <a:r>
              <a:rPr lang="fr-FR" sz="1300" b="0" noProof="0" dirty="0">
                <a:solidFill>
                  <a:srgbClr val="2D2D2D"/>
                </a:solidFill>
              </a:rPr>
              <a:t> unique (6 colonnes de métadonnées)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</a:t>
            </a:r>
            <a:r>
              <a:rPr lang="fr-FR" sz="1300" b="0" noProof="0" dirty="0" err="1">
                <a:solidFill>
                  <a:srgbClr val="2D2D2D"/>
                </a:solidFill>
              </a:rPr>
              <a:t>DataLoader</a:t>
            </a:r>
            <a:r>
              <a:rPr lang="fr-FR" sz="1300" b="0" noProof="0" dirty="0">
                <a:solidFill>
                  <a:srgbClr val="2D2D2D"/>
                </a:solidFill>
              </a:rPr>
              <a:t> </a:t>
            </a:r>
            <a:r>
              <a:rPr lang="fr-FR" sz="1300" b="0" noProof="0" dirty="0" err="1">
                <a:solidFill>
                  <a:srgbClr val="2D2D2D"/>
                </a:solidFill>
              </a:rPr>
              <a:t>shuffle</a:t>
            </a:r>
            <a:r>
              <a:rPr lang="fr-FR" sz="1300" b="0" noProof="0" dirty="0">
                <a:solidFill>
                  <a:srgbClr val="2D2D2D"/>
                </a:solidFill>
              </a:rPr>
              <a:t>=False — ordre stable garanti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Vérification visuelle avec OpenCV (brute vs </a:t>
            </a:r>
            <a:r>
              <a:rPr lang="fr-FR" sz="1300" b="0" noProof="0" dirty="0" err="1">
                <a:solidFill>
                  <a:srgbClr val="2D2D2D"/>
                </a:solidFill>
              </a:rPr>
              <a:t>preprocessed</a:t>
            </a:r>
            <a:r>
              <a:rPr lang="fr-FR" sz="1300" b="0" noProof="0" dirty="0">
                <a:solidFill>
                  <a:srgbClr val="2D2D2D"/>
                </a:solidFill>
              </a:rPr>
              <a:t>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Batch size = 32 → 48 </a:t>
            </a:r>
            <a:r>
              <a:rPr lang="fr-FR" sz="1300" b="0" noProof="0" dirty="0" err="1">
                <a:solidFill>
                  <a:srgbClr val="2D2D2D"/>
                </a:solidFill>
              </a:rPr>
              <a:t>batches</a:t>
            </a:r>
            <a:endParaRPr lang="fr-FR" sz="1300" b="0" noProof="0" dirty="0">
              <a:solidFill>
                <a:srgbClr val="2D2D2D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2" y="4126549"/>
            <a:ext cx="4572000" cy="1536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Outils 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torchvision — preprocessing officiel + modèle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OpenCV (cv2) — chargement brut + conversion BGR→RGB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PIL (Pillow) — ouverture dans le Dataset custom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numpy, pandas, matplotlib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15" name="Picture 14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6" name="Picture 15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ED04694-68B0-8BAA-AA97-D256F1201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9</a:t>
            </a:fld>
            <a:endParaRPr lang="fr-FR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1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1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19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" dur="250" autoRev="1" fill="remov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2" dur="250" autoRev="1" fill="remove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3" dur="250" autoRev="1" fill="remove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" dur="250" autoRev="1" fill="remove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7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8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9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" dur="250" autoRev="1" fill="remov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22" dur="250" autoRev="1" fill="remove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23" dur="250" autoRev="1" fill="remove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4" dur="250" autoRev="1" fill="remove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27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28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9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1" dur="250" autoRev="1" fill="remov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32" dur="250" autoRev="1" fill="remove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33" dur="250" autoRev="1" fill="remove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4" dur="250" autoRev="1" fill="remove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37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38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9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1" dur="250" autoRev="1" fill="remove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42" dur="250" autoRev="1" fill="remove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43" dur="250" autoRev="1" fill="remove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4" dur="250" autoRev="1" fill="remove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250" autoRev="1" fill="remove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47" dur="250" autoRev="1" fill="remove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48" dur="250" autoRev="1" fill="remove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9" dur="250" autoRev="1" fill="remove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1" dur="250" autoRev="1" fill="remove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52" dur="250" autoRev="1" fill="remove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53" dur="250" autoRev="1" fill="remove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4" dur="250" autoRev="1" fill="remove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6" dur="250" autoRev="1" fill="remov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57" dur="250" autoRev="1" fill="remove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58" dur="250" autoRev="1" fill="remove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9" dur="250" autoRev="1" fill="remove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1" dur="250" autoRev="1" fill="remov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62" dur="250" autoRev="1" fill="remove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63" dur="250" autoRev="1" fill="remove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4" dur="250" autoRev="1" fill="remove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250" autoRev="1" fill="remove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67" dur="250" autoRev="1" fill="remove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68" dur="250" autoRev="1" fill="remove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9" dur="250" autoRev="1" fill="remove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27" presetClass="emph" presetSubtype="0" fill="remove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1" dur="250" autoRev="1" fill="remov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2" dur="250" autoRev="1" fill="remove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73" dur="250" autoRev="1" fill="remove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74" dur="250" autoRev="1" fill="remove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27" presetClass="emph" presetSubtype="0" fill="remove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6" dur="250" autoRev="1" fill="remove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7" dur="250" autoRev="1" fill="remove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78" dur="250" autoRev="1" fill="remove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79" dur="250" autoRev="1" fill="remove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1" dur="250" autoRev="1" fill="remove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82" dur="250" autoRev="1" fill="remove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3" dur="250" autoRev="1" fill="remove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4" dur="250" autoRev="1" fill="remove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/>
      <p:bldP spid="5" grpId="0" animBg="1"/>
      <p:bldP spid="6" grpId="0"/>
      <p:bldP spid="7" grpId="0"/>
      <p:bldP spid="9" grpId="0"/>
      <p:bldP spid="10" grpId="0"/>
      <p:bldP spid="11" grpId="0" animBg="1"/>
      <p:bldP spid="12" grpId="0"/>
      <p:bldP spid="13" grpId="0"/>
      <p:bldP spid="14" grpId="0"/>
      <p:bldP spid="1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271194"/>
            <a:ext cx="73152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600" b="1" noProof="0" dirty="0">
                <a:solidFill>
                  <a:srgbClr val="D4A03C"/>
                </a:solidFill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Modèle ResNet50 — Configuration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340025"/>
              </p:ext>
            </p:extLst>
          </p:nvPr>
        </p:nvGraphicFramePr>
        <p:xfrm>
          <a:off x="731520" y="1271016"/>
          <a:ext cx="105156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Opération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Code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Effet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Geler les poids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 err="1"/>
                        <a:t>requires_grad</a:t>
                      </a:r>
                      <a:r>
                        <a:rPr lang="fr-FR" noProof="0" dirty="0"/>
                        <a:t> = False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Paramètres non modifiés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Mode inférence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 err="1"/>
                        <a:t>model.eval</a:t>
                      </a:r>
                      <a:r>
                        <a:rPr lang="fr-FR" noProof="0" dirty="0"/>
                        <a:t>()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 err="1"/>
                        <a:t>BatchNorm</a:t>
                      </a:r>
                      <a:r>
                        <a:rPr lang="fr-FR" noProof="0" dirty="0"/>
                        <a:t> / Dropout désactivés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Retirer la classification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 err="1"/>
                        <a:t>model.fc</a:t>
                      </a:r>
                      <a:r>
                        <a:rPr lang="fr-FR" noProof="0" dirty="0"/>
                        <a:t> = </a:t>
                      </a:r>
                      <a:r>
                        <a:rPr lang="fr-FR" noProof="0" dirty="0" err="1"/>
                        <a:t>nn.Identity</a:t>
                      </a:r>
                      <a:r>
                        <a:rPr lang="fr-FR" noProof="0" dirty="0"/>
                        <a:t>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Sortie [batch, 2048]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Pas de gradients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 err="1"/>
                        <a:t>torch.no_grad</a:t>
                      </a:r>
                      <a:r>
                        <a:rPr lang="fr-FR" noProof="0" dirty="0"/>
                        <a:t>()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Économie de mémoire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1520" y="3127248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868680" y="3218688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3A7CBD"/>
                </a:solidFill>
              </a:rPr>
              <a:t>23,5M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81304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Paramètres totaux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3127248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3429000" y="3218688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27AE60"/>
                </a:solidFill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381304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Entraînables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0" y="3127248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5989320" y="3218688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D4A03C"/>
                </a:solidFill>
              </a:rPr>
              <a:t>2 048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381304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 err="1">
                <a:solidFill>
                  <a:srgbClr val="6B6B6B"/>
                </a:solidFill>
              </a:rPr>
              <a:t>Features</a:t>
            </a:r>
            <a:r>
              <a:rPr lang="fr-FR" sz="1100" b="0" noProof="0" dirty="0">
                <a:solidFill>
                  <a:srgbClr val="6B6B6B"/>
                </a:solidFill>
              </a:rPr>
              <a:t> / image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3127248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8" name="TextBox 17"/>
          <p:cNvSpPr txBox="1"/>
          <p:nvPr/>
        </p:nvSpPr>
        <p:spPr>
          <a:xfrm>
            <a:off x="8549640" y="3218688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6B6B6B"/>
                </a:solidFill>
              </a:rPr>
              <a:t>CPU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381304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 err="1">
                <a:solidFill>
                  <a:srgbClr val="6B6B6B"/>
                </a:solidFill>
              </a:rPr>
              <a:t>Device</a:t>
            </a:r>
            <a:endParaRPr lang="fr-FR" sz="1100" b="0" noProof="0" dirty="0">
              <a:solidFill>
                <a:srgbClr val="6B6B6B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1" name="TextBox 2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24" name="Picture 23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5" name="Picture 24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DC132148-A8B0-46DE-A5D2-E78E0D0CA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10</a:t>
            </a:fld>
            <a:endParaRPr lang="fr-FR" noProof="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361C684C-2CE5-A073-7355-7F7A674EAE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3577" y="4672583"/>
            <a:ext cx="3883886" cy="1525155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1085DA35-3F45-7F36-BAF8-A72902764F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3840" y="4672584"/>
            <a:ext cx="7284720" cy="159105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2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2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2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2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2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2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2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2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2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2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2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2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2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2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2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2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4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2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2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4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2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2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2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/>
      <p:bldP spid="5" grpId="0" animBg="1"/>
      <p:bldP spid="6" grpId="0"/>
      <p:bldP spid="8" grpId="0" animBg="1"/>
      <p:bldP spid="9" grpId="0"/>
      <p:bldP spid="10" grpId="0"/>
      <p:bldP spid="11" grpId="0" animBg="1"/>
      <p:bldP spid="12" grpId="0"/>
      <p:bldP spid="13" grpId="0"/>
      <p:bldP spid="14" grpId="0" animBg="1"/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  <p:bldP spid="22" grpId="0"/>
      <p:bldP spid="23" grpId="0"/>
      <p:bldP spid="2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271194"/>
            <a:ext cx="73152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600" b="1" noProof="0" dirty="0">
                <a:solidFill>
                  <a:srgbClr val="D4A03C"/>
                </a:solidFill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Résultats de l'extraction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86868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D4A03C"/>
                </a:solidFill>
              </a:rPr>
              <a:t>1 506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Images traitées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342900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3A7CBD"/>
                </a:solidFill>
              </a:rPr>
              <a:t>2 048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 err="1">
                <a:solidFill>
                  <a:srgbClr val="6B6B6B"/>
                </a:solidFill>
              </a:rPr>
              <a:t>Features</a:t>
            </a:r>
            <a:r>
              <a:rPr lang="fr-FR" sz="1100" b="0" noProof="0" dirty="0">
                <a:solidFill>
                  <a:srgbClr val="6B6B6B"/>
                </a:solidFill>
              </a:rPr>
              <a:t> / image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598932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27AE60"/>
                </a:solidFill>
              </a:rPr>
              <a:t>0 NaN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932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Intégrité OK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7" name="TextBox 16"/>
          <p:cNvSpPr txBox="1"/>
          <p:nvPr/>
        </p:nvSpPr>
        <p:spPr>
          <a:xfrm>
            <a:off x="854964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6B6B6B"/>
                </a:solidFill>
              </a:rPr>
              <a:t>~108s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Temps (CPU)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5048273"/>
              </p:ext>
            </p:extLst>
          </p:nvPr>
        </p:nvGraphicFramePr>
        <p:xfrm>
          <a:off x="731520" y="3017520"/>
          <a:ext cx="457200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Métrique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Valeur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Shape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(1 506, 2 048)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Min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0.0000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Max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8.1477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Mean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0.1007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Std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0.3043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7246389" y="2898094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1500" b="1" noProof="0" dirty="0">
                <a:solidFill>
                  <a:srgbClr val="1B3A5C"/>
                </a:solidFill>
              </a:rPr>
              <a:t>Synthèse visuelle de l'étape 2</a:t>
            </a:r>
          </a:p>
        </p:txBody>
      </p:sp>
      <p:pic>
        <p:nvPicPr>
          <p:cNvPr id="21" name="Picture 20" descr="projet10_etape2_architecture_detaill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2070" y="3429000"/>
            <a:ext cx="6174557" cy="260359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3" name="TextBox 22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26" name="Picture 25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7" name="Picture 26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B92AD452-6255-04B3-A4CC-B1638DD1E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11</a:t>
            </a:fld>
            <a:endParaRPr lang="fr-FR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8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8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/>
      <p:bldP spid="5" grpId="0" animBg="1"/>
      <p:bldP spid="6" grpId="0"/>
      <p:bldP spid="7" grpId="0" animBg="1"/>
      <p:bldP spid="8" grpId="0"/>
      <p:bldP spid="9" grpId="0"/>
      <p:bldP spid="10" grpId="0" animBg="1"/>
      <p:bldP spid="11" grpId="0"/>
      <p:bldP spid="12" grpId="0"/>
      <p:bldP spid="13" grpId="0" animBg="1"/>
      <p:bldP spid="14" grpId="0"/>
      <p:bldP spid="15" grpId="0"/>
      <p:bldP spid="16" grpId="0" animBg="1"/>
      <p:bldP spid="17" grpId="0"/>
      <p:bldP spid="18" grpId="0"/>
      <p:bldP spid="20" grpId="0"/>
      <p:bldP spid="22" grpId="0" animBg="1"/>
      <p:bldP spid="23" grpId="0"/>
      <p:bldP spid="24" grpId="0"/>
      <p:bldP spid="25" grpId="0"/>
      <p:bldP spid="2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2193AD-7E6A-FBAA-C262-4A0181B13C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5DCC6F-BA46-13E2-56C4-D113B2BC4CC6}"/>
              </a:ext>
            </a:extLst>
          </p:cNvPr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53A5809-F3A8-1BF5-7C18-35DAD593FFD6}"/>
              </a:ext>
            </a:extLst>
          </p:cNvPr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604C03-5BB7-B8B1-0319-2F17CCB48CE0}"/>
              </a:ext>
            </a:extLst>
          </p:cNvPr>
          <p:cNvSpPr txBox="1"/>
          <p:nvPr/>
        </p:nvSpPr>
        <p:spPr>
          <a:xfrm>
            <a:off x="457200" y="271194"/>
            <a:ext cx="73152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600" b="1" noProof="0" dirty="0">
                <a:solidFill>
                  <a:srgbClr val="D4A03C"/>
                </a:solidFill>
              </a:rPr>
              <a:t>08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791BC0-D404-6BE9-47A8-8575FA8287C2}"/>
              </a:ext>
            </a:extLst>
          </p:cNvPr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EB3E25-4937-A990-BD30-C27FD8AD7874}"/>
              </a:ext>
            </a:extLst>
          </p:cNvPr>
          <p:cNvSpPr txBox="1"/>
          <p:nvPr/>
        </p:nvSpPr>
        <p:spPr>
          <a:xfrm>
            <a:off x="1463040" y="348139"/>
            <a:ext cx="9144000" cy="4924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Résumé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FEF0BFB-2872-2552-02FF-5C553489CA94}"/>
              </a:ext>
            </a:extLst>
          </p:cNvPr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FCF0160-F8F8-246A-37DE-DF7A6CB3279F}"/>
              </a:ext>
            </a:extLst>
          </p:cNvPr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721A7CF-0A27-06C8-852A-EA7BAFE6FB88}"/>
              </a:ext>
            </a:extLst>
          </p:cNvPr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850BA97-EACF-EF9A-4055-1509D37B8EA1}"/>
              </a:ext>
            </a:extLst>
          </p:cNvPr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26" name="Picture 25" descr="logo_openclassrooms.png">
            <a:extLst>
              <a:ext uri="{FF2B5EF4-FFF2-40B4-BE49-F238E27FC236}">
                <a16:creationId xmlns:a16="http://schemas.microsoft.com/office/drawing/2014/main" id="{CBA67437-91ED-DA44-58F9-4B5709456B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7" name="Picture 26" descr="logo_CurelyticsIA.png">
            <a:extLst>
              <a:ext uri="{FF2B5EF4-FFF2-40B4-BE49-F238E27FC236}">
                <a16:creationId xmlns:a16="http://schemas.microsoft.com/office/drawing/2014/main" id="{8623513B-DB65-9F1E-AE13-4A70232ECA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54BFB500-7CF1-830C-A692-DDCEF5797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12</a:t>
            </a:fld>
            <a:endParaRPr lang="fr-FR" noProof="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000088F-91D7-D1C8-845D-73B94390E209}"/>
              </a:ext>
            </a:extLst>
          </p:cNvPr>
          <p:cNvSpPr txBox="1"/>
          <p:nvPr/>
        </p:nvSpPr>
        <p:spPr>
          <a:xfrm>
            <a:off x="277492" y="1268157"/>
            <a:ext cx="11536556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q"/>
            </a:pPr>
            <a:r>
              <a:rPr lang="en-US" sz="1400" b="1" dirty="0">
                <a:latin typeface="Segoe WPC"/>
              </a:rPr>
              <a:t>Preprocessing </a:t>
            </a:r>
            <a:r>
              <a:rPr lang="en-US" sz="1400" b="1" dirty="0" err="1">
                <a:latin typeface="Segoe WPC"/>
              </a:rPr>
              <a:t>officiel</a:t>
            </a:r>
            <a:r>
              <a:rPr lang="en-US" sz="1400" b="1" dirty="0">
                <a:latin typeface="Segoe WPC"/>
              </a:rPr>
              <a:t> ResNet50 : </a:t>
            </a:r>
            <a:r>
              <a:rPr lang="en-US" sz="1400" dirty="0" err="1">
                <a:latin typeface="Segoe WPC"/>
              </a:rPr>
              <a:t>utilisation</a:t>
            </a:r>
            <a:r>
              <a:rPr lang="en-US" sz="1400" dirty="0">
                <a:latin typeface="Segoe WPC"/>
              </a:rPr>
              <a:t> de ResNet50_Weights.DEFAULT.transforms() — pipeline unique </a:t>
            </a:r>
            <a:r>
              <a:rPr lang="en-US" sz="1400" dirty="0" err="1">
                <a:latin typeface="Segoe WPC"/>
              </a:rPr>
              <a:t>garantissant</a:t>
            </a:r>
            <a:r>
              <a:rPr lang="en-US" sz="1400" dirty="0">
                <a:latin typeface="Segoe WPC"/>
              </a:rPr>
              <a:t> Resize(232) → </a:t>
            </a:r>
            <a:r>
              <a:rPr lang="en-US" sz="1400" dirty="0" err="1">
                <a:latin typeface="Segoe WPC"/>
              </a:rPr>
              <a:t>CenterCrop</a:t>
            </a:r>
            <a:r>
              <a:rPr lang="en-US" sz="1400" dirty="0">
                <a:latin typeface="Segoe WPC"/>
              </a:rPr>
              <a:t>(224) → </a:t>
            </a:r>
            <a:r>
              <a:rPr lang="en-US" sz="1400" dirty="0" err="1">
                <a:latin typeface="Segoe WPC"/>
              </a:rPr>
              <a:t>ToTensor</a:t>
            </a:r>
            <a:r>
              <a:rPr lang="en-US" sz="1400" dirty="0">
                <a:latin typeface="Segoe WPC"/>
              </a:rPr>
              <a:t> → Normalize(mean/std ImageNet), sans transformation </a:t>
            </a:r>
            <a:r>
              <a:rPr lang="en-US" sz="1400" dirty="0" err="1">
                <a:latin typeface="Segoe WPC"/>
              </a:rPr>
              <a:t>parallèle</a:t>
            </a:r>
            <a:r>
              <a:rPr lang="en-US" sz="1400" dirty="0">
                <a:latin typeface="Segoe WPC"/>
              </a:rPr>
              <a:t> </a:t>
            </a:r>
            <a:r>
              <a:rPr lang="en-US" sz="1400" dirty="0" err="1">
                <a:latin typeface="Segoe WPC"/>
              </a:rPr>
              <a:t>ni</a:t>
            </a:r>
            <a:r>
              <a:rPr lang="en-US" sz="1400" dirty="0">
                <a:latin typeface="Segoe WPC"/>
              </a:rPr>
              <a:t> </a:t>
            </a:r>
            <a:r>
              <a:rPr lang="en-US" sz="1400" dirty="0" err="1">
                <a:latin typeface="Segoe WPC"/>
              </a:rPr>
              <a:t>fuite</a:t>
            </a:r>
            <a:r>
              <a:rPr lang="en-US" sz="1400" dirty="0">
                <a:latin typeface="Segoe WPC"/>
              </a:rPr>
              <a:t> de données</a:t>
            </a: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q"/>
            </a:pPr>
            <a:r>
              <a:rPr lang="en-US" sz="1400" b="1" dirty="0" err="1">
                <a:latin typeface="Segoe WPC"/>
              </a:rPr>
              <a:t>Modèle</a:t>
            </a:r>
            <a:r>
              <a:rPr lang="en-US" sz="1400" b="1" dirty="0">
                <a:latin typeface="Segoe WPC"/>
              </a:rPr>
              <a:t> </a:t>
            </a:r>
            <a:r>
              <a:rPr lang="en-US" sz="1400" b="1" dirty="0" err="1">
                <a:latin typeface="Segoe WPC"/>
              </a:rPr>
              <a:t>gelé</a:t>
            </a:r>
            <a:r>
              <a:rPr lang="en-US" sz="1400" b="1" dirty="0">
                <a:latin typeface="Segoe WPC"/>
              </a:rPr>
              <a:t> </a:t>
            </a:r>
            <a:r>
              <a:rPr lang="en-US" sz="1400" b="1" dirty="0" err="1">
                <a:latin typeface="Segoe WPC"/>
              </a:rPr>
              <a:t>en</a:t>
            </a:r>
            <a:r>
              <a:rPr lang="en-US" sz="1400" b="1" dirty="0">
                <a:latin typeface="Segoe WPC"/>
              </a:rPr>
              <a:t> </a:t>
            </a:r>
            <a:r>
              <a:rPr lang="en-US" sz="1400" b="1" dirty="0" err="1">
                <a:latin typeface="Segoe WPC"/>
              </a:rPr>
              <a:t>inférence</a:t>
            </a:r>
            <a:r>
              <a:rPr lang="en-US" sz="1400" b="1" dirty="0">
                <a:latin typeface="Segoe WPC"/>
              </a:rPr>
              <a:t> : </a:t>
            </a:r>
            <a:r>
              <a:rPr lang="en-US" sz="1400" dirty="0" err="1">
                <a:latin typeface="Segoe WPC"/>
              </a:rPr>
              <a:t>tous</a:t>
            </a:r>
            <a:r>
              <a:rPr lang="en-US" sz="1400" dirty="0">
                <a:latin typeface="Segoe WPC"/>
              </a:rPr>
              <a:t> les </a:t>
            </a:r>
            <a:r>
              <a:rPr lang="en-US" sz="1400" dirty="0" err="1">
                <a:latin typeface="Segoe WPC"/>
              </a:rPr>
              <a:t>paramètres</a:t>
            </a:r>
            <a:r>
              <a:rPr lang="en-US" sz="1400" dirty="0">
                <a:latin typeface="Segoe WPC"/>
              </a:rPr>
              <a:t> </a:t>
            </a:r>
            <a:r>
              <a:rPr lang="en-US" sz="1400" dirty="0" err="1">
                <a:latin typeface="Segoe WPC"/>
              </a:rPr>
              <a:t>gelés</a:t>
            </a:r>
            <a:r>
              <a:rPr lang="en-US" sz="1400" dirty="0">
                <a:latin typeface="Segoe WPC"/>
              </a:rPr>
              <a:t> (</a:t>
            </a:r>
            <a:r>
              <a:rPr lang="en-US" sz="1400" dirty="0" err="1">
                <a:latin typeface="Segoe WPC"/>
              </a:rPr>
              <a:t>requires_grad</a:t>
            </a:r>
            <a:r>
              <a:rPr lang="en-US" sz="1400" dirty="0">
                <a:latin typeface="Segoe WPC"/>
              </a:rPr>
              <a:t>=False), </a:t>
            </a:r>
            <a:r>
              <a:rPr lang="en-US" sz="1400" dirty="0" err="1">
                <a:latin typeface="Segoe WPC"/>
              </a:rPr>
              <a:t>model.eval</a:t>
            </a:r>
            <a:r>
              <a:rPr lang="en-US" sz="1400" dirty="0">
                <a:latin typeface="Segoe WPC"/>
              </a:rPr>
              <a:t>(), fc </a:t>
            </a:r>
            <a:r>
              <a:rPr lang="en-US" sz="1400" dirty="0" err="1">
                <a:latin typeface="Segoe WPC"/>
              </a:rPr>
              <a:t>remplacé</a:t>
            </a:r>
            <a:r>
              <a:rPr lang="en-US" sz="1400" dirty="0">
                <a:latin typeface="Segoe WPC"/>
              </a:rPr>
              <a:t> par </a:t>
            </a:r>
            <a:r>
              <a:rPr lang="en-US" sz="1400" dirty="0" err="1">
                <a:latin typeface="Segoe WPC"/>
              </a:rPr>
              <a:t>nn.Identity</a:t>
            </a:r>
            <a:r>
              <a:rPr lang="en-US" sz="1400" dirty="0">
                <a:latin typeface="Segoe WPC"/>
              </a:rPr>
              <a:t>() → sortie brute de 2 048 features par image, </a:t>
            </a:r>
            <a:r>
              <a:rPr lang="en-US" sz="1400" dirty="0" err="1">
                <a:latin typeface="Segoe WPC"/>
              </a:rPr>
              <a:t>aucun</a:t>
            </a:r>
            <a:r>
              <a:rPr lang="en-US" sz="1400" dirty="0">
                <a:latin typeface="Segoe WPC"/>
              </a:rPr>
              <a:t> </a:t>
            </a:r>
            <a:r>
              <a:rPr lang="en-US" sz="1400" dirty="0" err="1">
                <a:latin typeface="Segoe WPC"/>
              </a:rPr>
              <a:t>entraînement</a:t>
            </a:r>
            <a:endParaRPr lang="en-US" sz="1400" dirty="0">
              <a:latin typeface="Segoe WPC"/>
            </a:endParaRP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q"/>
            </a:pPr>
            <a:r>
              <a:rPr lang="en-US" sz="1400" b="1" dirty="0">
                <a:latin typeface="Segoe WPC"/>
              </a:rPr>
              <a:t>Dataset </a:t>
            </a:r>
            <a:r>
              <a:rPr lang="en-US" sz="1400" b="1" dirty="0" err="1">
                <a:latin typeface="Segoe WPC"/>
              </a:rPr>
              <a:t>unifié</a:t>
            </a:r>
            <a:r>
              <a:rPr lang="en-US" sz="1400" b="1" dirty="0">
                <a:latin typeface="Segoe WPC"/>
              </a:rPr>
              <a:t> : </a:t>
            </a:r>
            <a:r>
              <a:rPr lang="en-US" sz="1400" dirty="0">
                <a:latin typeface="Segoe WPC"/>
              </a:rPr>
              <a:t>les 1 506 images (cancer + normal + </a:t>
            </a:r>
            <a:r>
              <a:rPr lang="en-US" sz="1400" dirty="0" err="1">
                <a:latin typeface="Segoe WPC"/>
              </a:rPr>
              <a:t>sans_label</a:t>
            </a:r>
            <a:r>
              <a:rPr lang="en-US" sz="1400" dirty="0">
                <a:latin typeface="Segoe WPC"/>
              </a:rPr>
              <a:t>) </a:t>
            </a:r>
            <a:r>
              <a:rPr lang="en-US" sz="1400" dirty="0" err="1">
                <a:latin typeface="Segoe WPC"/>
              </a:rPr>
              <a:t>traitées</a:t>
            </a:r>
            <a:r>
              <a:rPr lang="en-US" sz="1400" dirty="0">
                <a:latin typeface="Segoe WPC"/>
              </a:rPr>
              <a:t> dans un seul </a:t>
            </a:r>
            <a:r>
              <a:rPr lang="en-US" sz="1400" dirty="0" err="1">
                <a:latin typeface="Segoe WPC"/>
              </a:rPr>
              <a:t>DataFrame</a:t>
            </a:r>
            <a:r>
              <a:rPr lang="en-US" sz="1400" dirty="0">
                <a:latin typeface="Segoe WPC"/>
              </a:rPr>
              <a:t> de </a:t>
            </a:r>
            <a:r>
              <a:rPr lang="en-US" sz="1400" dirty="0" err="1">
                <a:latin typeface="Segoe WPC"/>
              </a:rPr>
              <a:t>métadonnées</a:t>
            </a:r>
            <a:r>
              <a:rPr lang="en-US" sz="1400" dirty="0">
                <a:latin typeface="Segoe WPC"/>
              </a:rPr>
              <a:t>, </a:t>
            </a:r>
            <a:r>
              <a:rPr lang="en-US" sz="1400" dirty="0" err="1">
                <a:latin typeface="Segoe WPC"/>
              </a:rPr>
              <a:t>DataLoader</a:t>
            </a:r>
            <a:r>
              <a:rPr lang="en-US" sz="1400" dirty="0">
                <a:latin typeface="Segoe WPC"/>
              </a:rPr>
              <a:t> avec shuffle=False pour un </a:t>
            </a:r>
            <a:r>
              <a:rPr lang="en-US" sz="1400" dirty="0" err="1">
                <a:latin typeface="Segoe WPC"/>
              </a:rPr>
              <a:t>ordre</a:t>
            </a:r>
            <a:r>
              <a:rPr lang="en-US" sz="1400" dirty="0">
                <a:latin typeface="Segoe WPC"/>
              </a:rPr>
              <a:t> stable et reproductible</a:t>
            </a: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q"/>
            </a:pPr>
            <a:r>
              <a:rPr lang="en-US" sz="1400" b="1" dirty="0" err="1">
                <a:latin typeface="Segoe WPC"/>
              </a:rPr>
              <a:t>Résultats</a:t>
            </a:r>
            <a:r>
              <a:rPr lang="en-US" sz="1400" b="1" dirty="0">
                <a:latin typeface="Segoe WPC"/>
              </a:rPr>
              <a:t> </a:t>
            </a:r>
            <a:r>
              <a:rPr lang="en-US" sz="1400" b="1" dirty="0" err="1">
                <a:latin typeface="Segoe WPC"/>
              </a:rPr>
              <a:t>validés</a:t>
            </a:r>
            <a:r>
              <a:rPr lang="en-US" sz="1400" b="1" dirty="0">
                <a:latin typeface="Segoe WPC"/>
              </a:rPr>
              <a:t> : </a:t>
            </a:r>
            <a:r>
              <a:rPr lang="en-US" sz="1400" dirty="0" err="1">
                <a:latin typeface="Segoe WPC"/>
              </a:rPr>
              <a:t>matrice</a:t>
            </a:r>
            <a:r>
              <a:rPr lang="en-US" sz="1400" dirty="0">
                <a:latin typeface="Segoe WPC"/>
              </a:rPr>
              <a:t> </a:t>
            </a:r>
            <a:r>
              <a:rPr lang="en-US" sz="1400" dirty="0" err="1">
                <a:latin typeface="Segoe WPC"/>
              </a:rPr>
              <a:t>features.npy</a:t>
            </a:r>
            <a:r>
              <a:rPr lang="en-US" sz="1400" dirty="0">
                <a:latin typeface="Segoe WPC"/>
              </a:rPr>
              <a:t> de shape (1 506, 2 048), 0 </a:t>
            </a:r>
            <a:r>
              <a:rPr lang="en-US" sz="1400" dirty="0" err="1">
                <a:latin typeface="Segoe WPC"/>
              </a:rPr>
              <a:t>NaN</a:t>
            </a:r>
            <a:r>
              <a:rPr lang="en-US" sz="1400" dirty="0">
                <a:latin typeface="Segoe WPC"/>
              </a:rPr>
              <a:t>, min=0, max=8.15, mean=0.10 — </a:t>
            </a:r>
            <a:r>
              <a:rPr lang="en-US" sz="1400" dirty="0" err="1">
                <a:latin typeface="Segoe WPC"/>
              </a:rPr>
              <a:t>sauvegardée</a:t>
            </a:r>
            <a:r>
              <a:rPr lang="en-US" sz="1400" dirty="0">
                <a:latin typeface="Segoe WPC"/>
              </a:rPr>
              <a:t> avec metadata.csv (6 </a:t>
            </a:r>
            <a:r>
              <a:rPr lang="en-US" sz="1400" dirty="0" err="1">
                <a:latin typeface="Segoe WPC"/>
              </a:rPr>
              <a:t>colonnes</a:t>
            </a:r>
            <a:r>
              <a:rPr lang="en-US" sz="1400" dirty="0">
                <a:latin typeface="Segoe WPC"/>
              </a:rPr>
              <a:t>, 1 506 </a:t>
            </a:r>
            <a:r>
              <a:rPr lang="en-US" sz="1400" dirty="0" err="1">
                <a:latin typeface="Segoe WPC"/>
              </a:rPr>
              <a:t>lignes</a:t>
            </a:r>
            <a:r>
              <a:rPr lang="en-US" sz="1400" dirty="0">
                <a:latin typeface="Segoe WPC"/>
              </a:rPr>
              <a:t>), tableau exploitable de 1 506 × 2 054</a:t>
            </a: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q"/>
            </a:pPr>
            <a:r>
              <a:rPr lang="en-US" sz="1400" b="1" dirty="0" err="1">
                <a:latin typeface="Segoe WPC"/>
              </a:rPr>
              <a:t>Contrôle</a:t>
            </a:r>
            <a:r>
              <a:rPr lang="en-US" sz="1400" b="1" dirty="0">
                <a:latin typeface="Segoe WPC"/>
              </a:rPr>
              <a:t> </a:t>
            </a:r>
            <a:r>
              <a:rPr lang="en-US" sz="1400" b="1" dirty="0" err="1">
                <a:latin typeface="Segoe WPC"/>
              </a:rPr>
              <a:t>visuel</a:t>
            </a:r>
            <a:r>
              <a:rPr lang="en-US" sz="1400" b="1" dirty="0">
                <a:latin typeface="Segoe WPC"/>
              </a:rPr>
              <a:t> : </a:t>
            </a:r>
            <a:r>
              <a:rPr lang="en-US" sz="1400" dirty="0" err="1">
                <a:latin typeface="Segoe WPC"/>
              </a:rPr>
              <a:t>comparaison</a:t>
            </a:r>
            <a:r>
              <a:rPr lang="en-US" sz="1400" dirty="0">
                <a:latin typeface="Segoe WPC"/>
              </a:rPr>
              <a:t> image brute (OpenCV) vs image </a:t>
            </a:r>
            <a:r>
              <a:rPr lang="en-US" sz="1400" dirty="0" err="1">
                <a:latin typeface="Segoe WPC"/>
              </a:rPr>
              <a:t>preprocessée</a:t>
            </a:r>
            <a:r>
              <a:rPr lang="en-US" sz="1400" dirty="0">
                <a:latin typeface="Segoe WPC"/>
              </a:rPr>
              <a:t> pour </a:t>
            </a:r>
            <a:r>
              <a:rPr lang="en-US" sz="1400" dirty="0" err="1">
                <a:latin typeface="Segoe WPC"/>
              </a:rPr>
              <a:t>valider</a:t>
            </a:r>
            <a:r>
              <a:rPr lang="en-US" sz="1400" dirty="0">
                <a:latin typeface="Segoe WPC"/>
              </a:rPr>
              <a:t> </a:t>
            </a:r>
            <a:r>
              <a:rPr lang="en-US" sz="1400" dirty="0" err="1">
                <a:latin typeface="Segoe WPC"/>
              </a:rPr>
              <a:t>visuellement</a:t>
            </a:r>
            <a:r>
              <a:rPr lang="en-US" sz="1400" dirty="0">
                <a:latin typeface="Segoe WPC"/>
              </a:rPr>
              <a:t> le pipeline avant </a:t>
            </a:r>
            <a:r>
              <a:rPr lang="en-US" sz="1400" dirty="0" err="1">
                <a:latin typeface="Segoe WPC"/>
              </a:rPr>
              <a:t>l'extraction</a:t>
            </a:r>
            <a:r>
              <a:rPr lang="en-US" sz="1400" dirty="0">
                <a:latin typeface="Segoe WPC"/>
              </a:rPr>
              <a:t> des 48 batches (~108s sur CPU)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AE7180E5-A8C4-0126-5DE7-4CBD0852BF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5" y="3900580"/>
            <a:ext cx="11945627" cy="2531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065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7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0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11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2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4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15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6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8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19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0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2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23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4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6" dur="2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27" dur="2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8" dur="2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0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31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2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4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35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6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8" dur="2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39" dur="2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0" dur="2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2" dur="2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43" dur="2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4" dur="2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6" dur="2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47" dur="2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8" dur="2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0" dur="2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51" dur="2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2" dur="2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4" dur="2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55" dur="2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6" dur="2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8" dur="2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59" dur="2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0" dur="2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/>
      <p:bldP spid="5" grpId="0" animBg="1"/>
      <p:bldP spid="6" grpId="0"/>
      <p:bldP spid="22" grpId="0" animBg="1"/>
      <p:bldP spid="23" grpId="0"/>
      <p:bldP spid="24" grpId="0"/>
      <p:bldP spid="25" grpId="0"/>
      <p:bldP spid="29" grpId="0"/>
      <p:bldP spid="3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277147" y="238944"/>
            <a:ext cx="616135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4400" b="1" noProof="0" dirty="0">
                <a:solidFill>
                  <a:srgbClr val="D4A03C"/>
                </a:solidFill>
              </a:rPr>
              <a:t>ÉTAPE 3 — CLUSTERING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28453" y="381786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400" b="0" noProof="0" dirty="0">
                <a:solidFill>
                  <a:srgbClr val="FFFFFF"/>
                </a:solidFill>
              </a:rPr>
              <a:t>De la haute dimension aux pseudo-labels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lang="fr-FR" sz="1400" b="0" noProof="0" dirty="0">
                <a:solidFill>
                  <a:srgbClr val="888888"/>
                </a:solidFill>
              </a:rPr>
              <a:t>PCA, t-SNE, K-Means, DBSCAN — labellisation faible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DAB993-6500-80F2-C27C-CF439F077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13</a:t>
            </a:fld>
            <a:endParaRPr lang="fr-FR" noProof="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DE8878E-47D3-7600-386F-C66B23FAF8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975" y="1623108"/>
            <a:ext cx="11782878" cy="485310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2000" fill="hold"/>
                                        <p:tgtEl>
                                          <p:spTgt spid="2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7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2000" fill="hold"/>
                                        <p:tgtEl>
                                          <p:spTgt spid="3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" dur="2000" fill="hold"/>
                                        <p:tgtEl>
                                          <p:spTgt spid="4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2" dur="2000" fill="hold"/>
                                        <p:tgtEl>
                                          <p:spTgt spid="5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4" dur="2000" fill="hold"/>
                                        <p:tgtEl>
                                          <p:spTgt spid="7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2000" fill="hold"/>
                                        <p:tgtEl>
                                          <p:spTgt spid="9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/>
      <p:bldP spid="5" grpId="0"/>
      <p:bldP spid="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271194"/>
            <a:ext cx="73152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600" b="1" noProof="0" dirty="0">
                <a:solidFill>
                  <a:srgbClr val="D4A03C"/>
                </a:solidFill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Réduction de dimension (PCA &amp; t-SNE)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Standardisation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</a:t>
            </a:r>
            <a:r>
              <a:rPr lang="fr-FR" sz="1300" b="0" noProof="0" dirty="0" err="1">
                <a:solidFill>
                  <a:srgbClr val="2D2D2D"/>
                </a:solidFill>
              </a:rPr>
              <a:t>StandardScaler</a:t>
            </a:r>
            <a:r>
              <a:rPr lang="fr-FR" sz="1300" b="0" noProof="0" dirty="0">
                <a:solidFill>
                  <a:srgbClr val="2D2D2D"/>
                </a:solidFill>
              </a:rPr>
              <a:t> : </a:t>
            </a:r>
            <a:r>
              <a:rPr lang="fr-FR" sz="1300" b="0" noProof="0" dirty="0" err="1">
                <a:solidFill>
                  <a:srgbClr val="2D2D2D"/>
                </a:solidFill>
              </a:rPr>
              <a:t>mean</a:t>
            </a:r>
            <a:r>
              <a:rPr lang="fr-FR" sz="1300" b="0" noProof="0" dirty="0">
                <a:solidFill>
                  <a:srgbClr val="2D2D2D"/>
                </a:solidFill>
              </a:rPr>
              <a:t>=0, std=1 sur 2 048 </a:t>
            </a:r>
            <a:r>
              <a:rPr lang="fr-FR" sz="1300" b="0" noProof="0" dirty="0" err="1">
                <a:solidFill>
                  <a:srgbClr val="2D2D2D"/>
                </a:solidFill>
              </a:rPr>
              <a:t>features</a:t>
            </a:r>
            <a:endParaRPr lang="fr-FR" sz="1300" b="0" noProof="0" dirty="0">
              <a:solidFill>
                <a:srgbClr val="2D2D2D"/>
              </a:solidFill>
            </a:endParaRP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Nécessaire avant PCA et calcul de distances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175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PCA — Variance expliquée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100 composantes → 58 % de variance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50 composantes → 46 % de variance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90 % non atteint avec 100 composantes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→ Information très distribuée (ResNet50 = </a:t>
            </a:r>
            <a:r>
              <a:rPr lang="fr-FR" sz="1300" b="0" noProof="0" dirty="0" err="1">
                <a:solidFill>
                  <a:srgbClr val="2D2D2D"/>
                </a:solidFill>
              </a:rPr>
              <a:t>ImageNet</a:t>
            </a:r>
            <a:r>
              <a:rPr lang="fr-FR" sz="1300" b="0" noProof="0" dirty="0">
                <a:solidFill>
                  <a:srgbClr val="2D2D2D"/>
                </a:solidFill>
              </a:rPr>
              <a:t>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4680699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457200" y="4772139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D4A03C"/>
                </a:solidFill>
              </a:rPr>
              <a:t>2 048→50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6649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Réduction PCA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63240" y="4680699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3200400" y="4772139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3A7CBD"/>
                </a:solidFill>
              </a:rPr>
              <a:t>46 %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536649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Variance (50D)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53935" y="1304725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1500" b="1" noProof="0" dirty="0">
                <a:solidFill>
                  <a:srgbClr val="1B3A5C"/>
                </a:solidFill>
              </a:rPr>
              <a:t>Workflow de </a:t>
            </a:r>
            <a:r>
              <a:rPr lang="fr-FR" sz="1500" b="1" noProof="0" dirty="0" err="1">
                <a:solidFill>
                  <a:srgbClr val="1B3A5C"/>
                </a:solidFill>
              </a:rPr>
              <a:t>reduction</a:t>
            </a:r>
            <a:r>
              <a:rPr lang="fr-FR" sz="1500" b="1" noProof="0" dirty="0">
                <a:solidFill>
                  <a:srgbClr val="1B3A5C"/>
                </a:solidFill>
              </a:rPr>
              <a:t> et visualisation</a:t>
            </a:r>
          </a:p>
        </p:txBody>
      </p:sp>
      <p:pic>
        <p:nvPicPr>
          <p:cNvPr id="16" name="Picture 15" descr="etape3_diagramme_activite_reduction_dimension_pca_ts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04169"/>
            <a:ext cx="5699760" cy="4133513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8" name="TextBox 1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21" name="Picture 20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2" name="Picture 21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6328D31B-FA3F-4ED0-1148-CF99F2E7D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14</a:t>
            </a:fld>
            <a:endParaRPr lang="fr-FR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/>
      <p:bldP spid="5" grpId="0" animBg="1"/>
      <p:bldP spid="6" grpId="0"/>
      <p:bldP spid="7" grpId="0"/>
      <p:bldP spid="8" grpId="0"/>
      <p:bldP spid="9" grpId="0" animBg="1"/>
      <p:bldP spid="10" grpId="0"/>
      <p:bldP spid="11" grpId="0"/>
      <p:bldP spid="12" grpId="0" animBg="1"/>
      <p:bldP spid="13" grpId="0"/>
      <p:bldP spid="14" grpId="0"/>
      <p:bldP spid="15" grpId="0"/>
      <p:bldP spid="17" grpId="0" animBg="1"/>
      <p:bldP spid="18" grpId="0"/>
      <p:bldP spid="19" grpId="0"/>
      <p:bldP spid="20" grpId="0"/>
      <p:bldP spid="2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271194"/>
            <a:ext cx="73152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600" b="1" dirty="0">
                <a:solidFill>
                  <a:srgbClr val="D4A03C"/>
                </a:solidFill>
              </a:rPr>
              <a:t>10</a:t>
            </a:r>
            <a:endParaRPr lang="fr-FR" sz="3600" b="1" noProof="0" dirty="0">
              <a:solidFill>
                <a:srgbClr val="D4A03C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Clustering &amp; Pseudo-labellisation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818209"/>
              </p:ext>
            </p:extLst>
          </p:nvPr>
        </p:nvGraphicFramePr>
        <p:xfrm>
          <a:off x="457200" y="1405128"/>
          <a:ext cx="11247120" cy="1042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Méthode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Clusters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ARI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Commentaire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K-Means (k=2)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582 / 924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0.1538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Alignement modéré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DBSCAN (50D)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1 + bruit (41%)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0.0000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Inadapté en 50D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2663952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Mapping (vote majoritaire sur 100 labels)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Cluster 0 → cancer (22 cancer vs 2 normal)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Cluster 1 → normal (48 normal vs 28 cancer)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75980" y="246165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1500" b="1" noProof="0" dirty="0">
                <a:solidFill>
                  <a:srgbClr val="1B3A5C"/>
                </a:solidFill>
              </a:rPr>
              <a:t>Pseudo-labellisation séparée</a:t>
            </a:r>
          </a:p>
        </p:txBody>
      </p:sp>
      <p:pic>
        <p:nvPicPr>
          <p:cNvPr id="10" name="Picture 9" descr="etape3_diagramme_activite_labellisation_faible_sepe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8600" y="2827410"/>
            <a:ext cx="4089400" cy="359221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116840" y="3913632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254000" y="4005072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D4A03C"/>
                </a:solidFill>
              </a:rPr>
              <a:t>0.1538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459943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ARI K-Means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77160" y="3913632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2814320" y="4005072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3A7CBD"/>
                </a:solidFill>
              </a:rPr>
              <a:t>1 406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14320" y="459943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Pseudo-labellisées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37480" y="3913632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8" name="TextBox 17"/>
          <p:cNvSpPr txBox="1"/>
          <p:nvPr/>
        </p:nvSpPr>
        <p:spPr>
          <a:xfrm>
            <a:off x="5374640" y="4005072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27AE60"/>
                </a:solidFill>
              </a:rPr>
              <a:t>100 %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4640" y="459943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Images assignées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1" name="TextBox 2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24" name="Picture 23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5" name="Picture 24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ECA3108E-76EF-ECA1-5973-66D59E2BC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15</a:t>
            </a:fld>
            <a:endParaRPr lang="fr-FR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/>
      <p:bldP spid="5" grpId="0" animBg="1"/>
      <p:bldP spid="6" grpId="0"/>
      <p:bldP spid="8" grpId="0"/>
      <p:bldP spid="9" grpId="0"/>
      <p:bldP spid="11" grpId="0" animBg="1"/>
      <p:bldP spid="12" grpId="0"/>
      <p:bldP spid="13" grpId="0"/>
      <p:bldP spid="14" grpId="0" animBg="1"/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  <p:bldP spid="22" grpId="0"/>
      <p:bldP spid="23" grpId="0"/>
      <p:bldP spid="2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124460" y="145288"/>
            <a:ext cx="70815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4400" b="1" noProof="0" dirty="0">
                <a:solidFill>
                  <a:srgbClr val="D4A03C"/>
                </a:solidFill>
              </a:rPr>
              <a:t>ÉTAPE 4 — SEMI-SUPERVISÉ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5980" y="118872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400" b="0" noProof="0" dirty="0">
                <a:solidFill>
                  <a:srgbClr val="FFFFFF"/>
                </a:solidFill>
              </a:rPr>
              <a:t>Du clustering au CNN fine-</a:t>
            </a:r>
            <a:r>
              <a:rPr lang="fr-FR" sz="2400" b="0" noProof="0" dirty="0" err="1">
                <a:solidFill>
                  <a:srgbClr val="FFFFFF"/>
                </a:solidFill>
              </a:rPr>
              <a:t>tuné</a:t>
            </a:r>
            <a:endParaRPr lang="fr-FR" sz="2400" b="0" noProof="0" dirty="0">
              <a:solidFill>
                <a:srgbClr val="FFFFFF"/>
              </a:solidFill>
            </a:endParaRP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lang="fr-FR" sz="1400" b="0" noProof="0" dirty="0">
                <a:solidFill>
                  <a:srgbClr val="888888"/>
                </a:solidFill>
              </a:rPr>
              <a:t>Supervisé pur vs semi-supervisé — comparaison rigoureuse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B087D9-669F-2A5A-3179-D25E47382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16</a:t>
            </a:fld>
            <a:endParaRPr lang="fr-FR" noProof="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CC213EB-7543-9D9D-C1FC-0A8C48487C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263396"/>
            <a:ext cx="10833101" cy="51972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/>
      <p:bldP spid="5" grpId="0"/>
      <p:bldP spid="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600" b="1" noProof="0" dirty="0">
                <a:solidFill>
                  <a:srgbClr val="D4A03C"/>
                </a:solidFill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Méthodologie semi-supervisée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Architecture CNN (fine-tuning ResNet50)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layer4 + </a:t>
            </a:r>
            <a:r>
              <a:rPr lang="fr-FR" sz="1300" b="0" noProof="0" dirty="0" err="1">
                <a:solidFill>
                  <a:srgbClr val="2D2D2D"/>
                </a:solidFill>
              </a:rPr>
              <a:t>fc</a:t>
            </a:r>
            <a:r>
              <a:rPr lang="fr-FR" sz="1300" b="0" noProof="0" dirty="0">
                <a:solidFill>
                  <a:srgbClr val="2D2D2D"/>
                </a:solidFill>
              </a:rPr>
              <a:t> dégelés → 14,9M / 23,5M params entraînables (63,7 %)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</a:t>
            </a:r>
            <a:r>
              <a:rPr lang="fr-FR" sz="1300" b="0" noProof="0" dirty="0" err="1">
                <a:solidFill>
                  <a:srgbClr val="2D2D2D"/>
                </a:solidFill>
              </a:rPr>
              <a:t>fc</a:t>
            </a:r>
            <a:r>
              <a:rPr lang="fr-FR" sz="1300" b="0" noProof="0" dirty="0">
                <a:solidFill>
                  <a:srgbClr val="2D2D2D"/>
                </a:solidFill>
              </a:rPr>
              <a:t> remplacé par Linear(2048, 2) — classification binaire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</a:t>
            </a:r>
            <a:r>
              <a:rPr lang="fr-FR" sz="1300" b="0" noProof="0" dirty="0" err="1">
                <a:solidFill>
                  <a:srgbClr val="2D2D2D"/>
                </a:solidFill>
              </a:rPr>
              <a:t>CrossEntropyLoss</a:t>
            </a:r>
            <a:r>
              <a:rPr lang="fr-FR" sz="1300" b="0" noProof="0" dirty="0">
                <a:solidFill>
                  <a:srgbClr val="2D2D2D"/>
                </a:solidFill>
              </a:rPr>
              <a:t> + Adam (</a:t>
            </a:r>
            <a:r>
              <a:rPr lang="fr-FR" sz="1300" b="0" noProof="0" dirty="0" err="1">
                <a:solidFill>
                  <a:srgbClr val="2D2D2D"/>
                </a:solidFill>
              </a:rPr>
              <a:t>lr</a:t>
            </a:r>
            <a:r>
              <a:rPr lang="fr-FR" sz="1300" b="0" noProof="0" dirty="0">
                <a:solidFill>
                  <a:srgbClr val="2D2D2D"/>
                </a:solidFill>
              </a:rPr>
              <a:t>=1e-4) — 10 époques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Protocole </a:t>
            </a:r>
            <a:r>
              <a:rPr lang="fr-FR" sz="1600" b="1" noProof="0" dirty="0" err="1">
                <a:solidFill>
                  <a:srgbClr val="1B3A5C"/>
                </a:solidFill>
              </a:rPr>
              <a:t>anti-fuite</a:t>
            </a:r>
            <a:endParaRPr lang="fr-FR" sz="1600" b="1" noProof="0" dirty="0">
              <a:solidFill>
                <a:srgbClr val="1B3A5C"/>
              </a:solidFill>
            </a:endParaRP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</a:t>
            </a:r>
            <a:r>
              <a:rPr lang="fr-FR" sz="1300" b="0" noProof="0" dirty="0" err="1">
                <a:solidFill>
                  <a:srgbClr val="2D2D2D"/>
                </a:solidFill>
              </a:rPr>
              <a:t>Re-fit</a:t>
            </a:r>
            <a:r>
              <a:rPr lang="fr-FR" sz="1300" b="0" noProof="0" dirty="0">
                <a:solidFill>
                  <a:srgbClr val="2D2D2D"/>
                </a:solidFill>
              </a:rPr>
              <a:t> </a:t>
            </a:r>
            <a:r>
              <a:rPr lang="fr-FR" sz="1300" b="0" noProof="0" dirty="0" err="1">
                <a:solidFill>
                  <a:srgbClr val="2D2D2D"/>
                </a:solidFill>
              </a:rPr>
              <a:t>KMeans</a:t>
            </a:r>
            <a:r>
              <a:rPr lang="fr-FR" sz="1300" b="0" noProof="0" dirty="0">
                <a:solidFill>
                  <a:srgbClr val="2D2D2D"/>
                </a:solidFill>
              </a:rPr>
              <a:t> sur 1 486 images (hors test)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Mapping cluster → classe sur les 64 images train uniquement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Test set jamais exposé au clustering ni au mapping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57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Split des données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64 labellisées → train (32 cancer + 32 normal)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20 labellisées → test (10 cancer + 10 normal)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1 406 pseudo-labellisées → entraînement modèle B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16 restantes → non utilisées (trop proches test)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36576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6537960" y="37490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D4A03C"/>
                </a:solidFill>
              </a:rPr>
              <a:t>63,7 %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4343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Params entraînables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0" y="36576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9281160" y="37490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3A7CBD"/>
                </a:solidFill>
              </a:rPr>
              <a:t>1 486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81160" y="4343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Images re-clustering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50292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7" name="TextBox 16"/>
          <p:cNvSpPr txBox="1"/>
          <p:nvPr/>
        </p:nvSpPr>
        <p:spPr>
          <a:xfrm>
            <a:off x="6537960" y="51206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27AE60"/>
                </a:solidFill>
              </a:rPr>
              <a:t>64+1406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57150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Train (B)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0" y="50292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0" name="TextBox 19"/>
          <p:cNvSpPr txBox="1"/>
          <p:nvPr/>
        </p:nvSpPr>
        <p:spPr>
          <a:xfrm>
            <a:off x="9281160" y="51206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6B6B6B"/>
                </a:solidFill>
              </a:rPr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1160" y="57150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Test (isolé)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3" name="TextBox 22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26" name="Picture 25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7" name="Picture 26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8BEAFF56-48FA-DBC5-A6D7-06D634D5F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17</a:t>
            </a:fld>
            <a:endParaRPr lang="fr-FR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2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3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6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5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1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4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7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3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6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9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0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1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5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6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7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8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1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2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3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4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7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8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9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3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4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5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/>
      <p:bldP spid="5" grpId="0" animBg="1"/>
      <p:bldP spid="6" grpId="0"/>
      <p:bldP spid="7" grpId="0"/>
      <p:bldP spid="8" grpId="0"/>
      <p:bldP spid="9" grpId="0"/>
      <p:bldP spid="10" grpId="0" animBg="1"/>
      <p:bldP spid="11" grpId="0"/>
      <p:bldP spid="12" grpId="0"/>
      <p:bldP spid="13" grpId="0" animBg="1"/>
      <p:bldP spid="14" grpId="0"/>
      <p:bldP spid="15" grpId="0"/>
      <p:bldP spid="16" grpId="0" animBg="1"/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/>
      <p:bldP spid="2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600" b="1" noProof="0" dirty="0">
                <a:solidFill>
                  <a:srgbClr val="D4A03C"/>
                </a:solidFill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Résultats &amp; Bilan final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4662667"/>
              </p:ext>
            </p:extLst>
          </p:nvPr>
        </p:nvGraphicFramePr>
        <p:xfrm>
          <a:off x="457200" y="1480262"/>
          <a:ext cx="1112520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5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5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25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5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25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Modèle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F1 (macro)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 err="1"/>
                        <a:t>Accuracy</a:t>
                      </a:r>
                      <a:endParaRPr lang="fr-FR" noProof="0" dirty="0"/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 err="1"/>
                        <a:t>Recall</a:t>
                      </a:r>
                      <a:r>
                        <a:rPr lang="fr-FR" noProof="0" dirty="0"/>
                        <a:t> cancer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Précision cancer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A — Supervisé pur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0.79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0.80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0.60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B — Semi-supervisé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0.85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0.85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0.70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1.00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Δ (B − 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+0.05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+0.05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+0.10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1520" y="286512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868680" y="295656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27AE60"/>
                </a:solidFill>
              </a:rPr>
              <a:t>+10 %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550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 err="1">
                <a:solidFill>
                  <a:srgbClr val="6B6B6B"/>
                </a:solidFill>
              </a:rPr>
              <a:t>Recall</a:t>
            </a:r>
            <a:r>
              <a:rPr lang="fr-FR" sz="1100" b="0" noProof="0" dirty="0">
                <a:solidFill>
                  <a:srgbClr val="6B6B6B"/>
                </a:solidFill>
              </a:rPr>
              <a:t> cancer (B &gt; A)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286512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3429000" y="295656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D4A03C"/>
                </a:solidFill>
              </a:rPr>
              <a:t>0.85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3550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F1 semi-supervisé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0" y="286512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5989320" y="295656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3A7CBD"/>
                </a:solidFill>
              </a:rPr>
              <a:t>1 406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3550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Pseudo-labels utilisés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286512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8" name="TextBox 17"/>
          <p:cNvSpPr txBox="1"/>
          <p:nvPr/>
        </p:nvSpPr>
        <p:spPr>
          <a:xfrm>
            <a:off x="8549640" y="295656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6B6B6B"/>
                </a:solidFill>
              </a:rPr>
              <a:t>5 000 €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3550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Budget passage échelle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1" name="TextBox 2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24" name="Picture 23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5" name="Picture 24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E5508A47-01E1-47D1-50DA-93CA58EF5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18</a:t>
            </a:fld>
            <a:endParaRPr lang="fr-FR" noProof="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648F202C-0ED1-918F-3524-9ACAA51660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203750"/>
            <a:ext cx="11341100" cy="212339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0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2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3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4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8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9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20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1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22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3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24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5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26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28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9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30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1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32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3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34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5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36" dur="2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38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9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40" dur="2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1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42" dur="2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3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44" dur="2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5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46" dur="2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48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9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50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1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52" dur="2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3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54" dur="2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5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56" dur="2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/>
      <p:bldP spid="5" grpId="0" animBg="1"/>
      <p:bldP spid="6" grpId="0"/>
      <p:bldP spid="8" grpId="0" animBg="1"/>
      <p:bldP spid="9" grpId="0"/>
      <p:bldP spid="10" grpId="0"/>
      <p:bldP spid="11" grpId="0" animBg="1"/>
      <p:bldP spid="12" grpId="0"/>
      <p:bldP spid="13" grpId="0"/>
      <p:bldP spid="14" grpId="0" animBg="1"/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  <p:bldP spid="22" grpId="0"/>
      <p:bldP spid="23" grpId="0"/>
      <p:bldP spid="2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600" b="1" noProof="0" dirty="0">
                <a:solidFill>
                  <a:srgbClr val="D4A03C"/>
                </a:solidFill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8120" y="13284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Bilan du projet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L'approche semi-supervisée apporte un gain mesurable (+10% </a:t>
            </a:r>
            <a:r>
              <a:rPr lang="fr-FR" sz="1300" b="0" noProof="0" dirty="0" err="1">
                <a:solidFill>
                  <a:srgbClr val="2D2D2D"/>
                </a:solidFill>
              </a:rPr>
              <a:t>recall</a:t>
            </a:r>
            <a:r>
              <a:rPr lang="fr-FR" sz="1300" b="0" noProof="0" dirty="0">
                <a:solidFill>
                  <a:srgbClr val="2D2D2D"/>
                </a:solidFill>
              </a:rPr>
              <a:t> cancer)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Pipeline complet validé : preprocessing → </a:t>
            </a:r>
            <a:r>
              <a:rPr lang="fr-FR" sz="1300" b="0" noProof="0" dirty="0" err="1">
                <a:solidFill>
                  <a:srgbClr val="2D2D2D"/>
                </a:solidFill>
              </a:rPr>
              <a:t>features</a:t>
            </a:r>
            <a:r>
              <a:rPr lang="fr-FR" sz="1300" b="0" noProof="0" dirty="0">
                <a:solidFill>
                  <a:srgbClr val="2D2D2D"/>
                </a:solidFill>
              </a:rPr>
              <a:t> → clustering → fine-tuning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Passage à l'échelle faisable : inférence + active </a:t>
            </a:r>
            <a:r>
              <a:rPr lang="fr-FR" sz="1300" b="0" noProof="0" dirty="0" err="1">
                <a:solidFill>
                  <a:srgbClr val="2D2D2D"/>
                </a:solidFill>
              </a:rPr>
              <a:t>learning</a:t>
            </a:r>
            <a:r>
              <a:rPr lang="fr-FR" sz="1300" b="0" noProof="0" dirty="0">
                <a:solidFill>
                  <a:srgbClr val="2D2D2D"/>
                </a:solidFill>
              </a:rPr>
              <a:t> itératif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84416" y="131064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Limites &amp; Recommandations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Jeu test de 20 images — résultats exploratoires, pas cliniques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Recommandation : collecte de labels supplémentaires via active </a:t>
            </a:r>
            <a:r>
              <a:rPr lang="fr-FR" sz="1300" b="0" noProof="0" dirty="0" err="1">
                <a:solidFill>
                  <a:srgbClr val="2D2D2D"/>
                </a:solidFill>
              </a:rPr>
              <a:t>learning</a:t>
            </a:r>
            <a:endParaRPr lang="fr-FR" sz="1300" b="0" noProof="0" dirty="0">
              <a:solidFill>
                <a:srgbClr val="2D2D2D"/>
              </a:solidFill>
            </a:endParaRP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Perspective : validation sur un jeu externe et collaboration radiologues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14" name="Picture 13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5" name="Picture 14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BA3F79DB-949F-6AF0-A68D-07BB4EE35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19</a:t>
            </a:fld>
            <a:endParaRPr lang="fr-FR" noProof="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67A9298-AE6A-3ADA-56F9-C446F7F277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376" y="3214142"/>
            <a:ext cx="11458448" cy="31394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3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9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5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8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1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4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7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0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6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9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/>
      <p:bldP spid="5" grpId="0" animBg="1"/>
      <p:bldP spid="6" grpId="0"/>
      <p:bldP spid="7" grpId="0"/>
      <p:bldP spid="8" grpId="0"/>
      <p:bldP spid="10" grpId="0" animBg="1"/>
      <p:bldP spid="11" grpId="0"/>
      <p:bldP spid="12" grpId="0"/>
      <p:bldP spid="13" grpId="0"/>
      <p:bldP spid="16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230</TotalTime>
  <Words>1530</Words>
  <Application>Microsoft Office PowerPoint</Application>
  <PresentationFormat>Widescreen</PresentationFormat>
  <Paragraphs>333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Aptos</vt:lpstr>
      <vt:lpstr>Arial</vt:lpstr>
      <vt:lpstr>Calibri</vt:lpstr>
      <vt:lpstr>Segoe WPC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 10 — Approches semi-supervisées en traitement d'images</dc:title>
  <dc:subject>OpenClassrooms — Data Scientist</dc:subject>
  <dc:creator>David MEDRAGH</dc:creator>
  <cp:keywords/>
  <dc:description/>
  <cp:lastModifiedBy>David MEDRAGH</cp:lastModifiedBy>
  <cp:revision>21</cp:revision>
  <dcterms:created xsi:type="dcterms:W3CDTF">2026-05-16T00:00:00Z</dcterms:created>
  <dcterms:modified xsi:type="dcterms:W3CDTF">2026-05-20T19:34:22Z</dcterms:modified>
  <cp:category/>
</cp:coreProperties>
</file>